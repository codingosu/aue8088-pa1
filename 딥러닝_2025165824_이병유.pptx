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2" r:id="rId3"/>
    <p:sldId id="257" r:id="rId4"/>
    <p:sldId id="258" r:id="rId5"/>
    <p:sldId id="263" r:id="rId6"/>
    <p:sldId id="265" r:id="rId7"/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6" r:id="rId16"/>
    <p:sldId id="274" r:id="rId17"/>
    <p:sldId id="273" r:id="rId18"/>
    <p:sldId id="275" r:id="rId19"/>
    <p:sldId id="278" r:id="rId20"/>
    <p:sldId id="279" r:id="rId21"/>
    <p:sldId id="287" r:id="rId22"/>
    <p:sldId id="288" r:id="rId23"/>
    <p:sldId id="289" r:id="rId24"/>
    <p:sldId id="280" r:id="rId25"/>
    <p:sldId id="281" r:id="rId26"/>
    <p:sldId id="283" r:id="rId27"/>
    <p:sldId id="282" r:id="rId28"/>
    <p:sldId id="285" r:id="rId29"/>
    <p:sldId id="286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BC8F00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outlineViewPr>
    <p:cViewPr>
      <p:scale>
        <a:sx n="33" d="100"/>
        <a:sy n="33" d="100"/>
      </p:scale>
      <p:origin x="0" y="-395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51E2B-F880-4A4C-91D8-84B368E66114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F98694-09E1-4FE7-BC59-C1A289550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220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4738D-6E21-A17B-9ECC-BBDDD2BC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2A5004-8F08-E8A0-2C85-40A098388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5016A2-0DF3-E95C-65C1-86FC0FE02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035224-C32A-C1E6-29CC-BD3396533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44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4C5D-B5FF-03B6-BFAC-CADDDF21D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B22420-5887-7257-24BA-14A58F818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295198-DDA1-8CE5-A44E-462967E34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647DB3-C04F-AEFA-3305-9DDF9767E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322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601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807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2AB9-1CB1-6119-0E81-80AA8E03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ABCC40-2380-8C0A-E6A6-16F4BB7F3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E60B2A-B06D-D016-E9BC-C99D4775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C6F856-70FD-6019-994F-AD8451A03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08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C30B5-679F-59DC-FC25-8F6631A5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3F8632-BEF9-5E1A-BCBD-277D32972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D13EC1-3C2F-333A-BDF5-B1D74A6A9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5DD1EB-1F26-469E-D19A-8B682083B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64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654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70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457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98694-09E1-4FE7-BC59-C1A289550CB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205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9758F-D400-9340-0244-621B7578A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04A3DF-7A37-F843-5220-584DA2B42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0AC6C3-7F35-1471-54B2-36B787CF1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AB38CF-6B25-64D9-92DD-36EC19469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9EDBA8-5081-09BE-13A5-A363C773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07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A8F6F-B801-9BBD-4BBA-9C47086A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85"/>
            <a:ext cx="10515600" cy="63473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46105F-C5E5-5486-8D3D-567A9D0F7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4"/>
            <a:ext cx="10515600" cy="512583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4519F-360D-4623-F468-3E77B90B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915EE3-970F-EDAA-8BDD-E77354139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ADBAF4-2328-13C0-2100-CB6538A6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7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53CD8-8769-09B4-F2F1-492AE977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F7C066-D699-F354-EA92-4B9551EB6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3201E9-A349-6C65-7B79-860062E0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44CD3D-FBD7-AAF6-7265-BB7A48EF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5E2B2C-AC54-6CD4-2743-E29C9D7C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59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08C7A-1594-281F-6A77-A382783D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7E1AC1-2E75-8E71-60FC-D2AE2BCB9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26DE51-FB6A-7E6A-44B3-E5C7A71C0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10AA3B-4E26-E3E1-37CD-D9A2577F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0B2CB2-3C34-485B-8F93-8B4D1D542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B3AE55-7AF0-6A9D-6E1E-DC4B13519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58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D6222-AFFC-A531-37EC-6C20EDB0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64199D-FC8A-0555-6929-0558A5E02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F8049A-C271-060B-EF71-1600614B3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84D0F4-488E-AE07-56E3-5DEC24082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4E8E3A-7AAE-CF50-ACB1-FDD519CBB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6EE66D-32CE-9573-72A3-10824FD1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6B56AB-AACB-BDF7-4E04-605F71A7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88F3D4-68F2-27A3-FCE5-F2C8F407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595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115A1-4592-CEBC-7F7D-2E2723E0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5E5B6B-BC45-040B-364B-D990D6CE0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1C1C67-C2E0-60DA-CA8D-4E221F255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EDE996-A2B5-4120-560E-32B4A9EC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05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05062D-AA3C-6219-E6E3-59DB4653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EE6C9B-68B1-0E4C-F21E-8E2B24AE1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285D10-1BF7-C543-6D67-3E27AF22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33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A26DF-9D8E-CBE0-0DE0-A954BEECC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84536-2072-E19F-5EDB-CB99E7FA0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03AE6D-27FF-E7A4-5846-F93DAB113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D07EC9-7DEA-D01C-AAB9-0194BBC3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1600FF-07B4-8F77-FAF0-91CEB9A4C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752805-D6C6-3AC6-28BC-116CCE3D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178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8D259-0AEE-D1F0-C96A-89C2685C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9942F5-E3B5-9894-F743-420FF925F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31EAA4-69A1-73B3-BFE1-B0E49BD76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8A6DD9-33D0-579D-DAD9-F1FDAD32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E9F12E-4A71-96BB-553D-AB6A8A0A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5931C-1C1B-01B1-65ED-EEF4A197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60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F004D-A6BF-7102-1DDE-52E7E4FB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A0DCFA-0012-8E3E-D2FC-7B2C8C9B8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AC7F39-8233-AF08-993D-1B1349437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FB3A2F-77E5-7553-11E7-7FFD0A78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A2DDE9-1594-2E06-E419-E327A7CA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947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2CA559-BA9E-10C2-B3A6-C217C6C79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F69AC8-B8B8-DCD7-7E09-5CA393C7A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B2EE9-D5A1-A0C2-B614-2F6137B0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302ED8-AA6F-6312-7C48-71456187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C9FA0-6792-4091-03B8-64C42B95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526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97A857-56B8-770B-3085-DC8982D1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64E0AE-CD08-F7F5-7061-76151BA26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2407"/>
            <a:ext cx="10515600" cy="5074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44CB2-3C0F-9A38-E5C1-5D3D6ADC1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E4F4D-1FA4-4AAD-8F06-96BD040B1480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1FFF0B-2920-763B-9EC6-D42391CB0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56F7F8-D211-39F7-CF4E-A340709D4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F8DAC-6B87-4F56-9D6D-F7CE65FB7C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4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EFB49-60B4-E7FB-1709-2907E814C0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딥러닝 </a:t>
            </a:r>
            <a:r>
              <a:rPr lang="en-US" altLang="ko-KR" dirty="0"/>
              <a:t>(AUE 8088)</a:t>
            </a:r>
            <a:br>
              <a:rPr lang="en-US" altLang="ko-KR" dirty="0"/>
            </a:br>
            <a:r>
              <a:rPr lang="en-US" altLang="ko-KR" dirty="0"/>
              <a:t>PA1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462FC0-5410-80F6-2BD8-25790F814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미래자동차공학과</a:t>
            </a:r>
            <a:endParaRPr lang="en-US" altLang="ko-KR" dirty="0"/>
          </a:p>
          <a:p>
            <a:r>
              <a:rPr lang="en-US" altLang="ko-KR" dirty="0"/>
              <a:t>2025165824 </a:t>
            </a:r>
            <a:r>
              <a:rPr lang="ko-KR" altLang="en-US" dirty="0"/>
              <a:t>이병유</a:t>
            </a:r>
          </a:p>
        </p:txBody>
      </p:sp>
    </p:spTree>
    <p:extLst>
      <p:ext uri="{BB962C8B-B14F-4D97-AF65-F5344CB8AC3E}">
        <p14:creationId xmlns:p14="http://schemas.microsoft.com/office/powerpoint/2010/main" val="364276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66CAA-C6F7-F2EF-F5F8-06AEF8D1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1B3F5-F5BF-6FED-5034-34EA85693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0. </a:t>
            </a:r>
            <a:r>
              <a:rPr lang="ko-KR" altLang="en-US" dirty="0"/>
              <a:t>환경설정</a:t>
            </a:r>
            <a:endParaRPr lang="en-US" altLang="ko-KR" dirty="0"/>
          </a:p>
          <a:p>
            <a:r>
              <a:rPr lang="en-US" altLang="ko-KR" dirty="0"/>
              <a:t>1. [TODO] Evaluation metrics</a:t>
            </a:r>
          </a:p>
          <a:p>
            <a:r>
              <a:rPr lang="en-US" altLang="ko-KR" dirty="0"/>
              <a:t>2. [TODO] Train models</a:t>
            </a:r>
          </a:p>
          <a:p>
            <a:r>
              <a:rPr lang="en-US" altLang="ko-KR" dirty="0"/>
              <a:t>3. [TODO] Modify </a:t>
            </a:r>
            <a:r>
              <a:rPr lang="en-US" altLang="ko-KR" dirty="0" err="1"/>
              <a:t>AlexNet</a:t>
            </a:r>
            <a:endParaRPr lang="en-US" altLang="ko-KR" dirty="0"/>
          </a:p>
          <a:p>
            <a:r>
              <a:rPr lang="en-US" altLang="ko-KR" dirty="0"/>
              <a:t>4. [TODO] size-accuracy trade-off plot</a:t>
            </a:r>
          </a:p>
          <a:p>
            <a:r>
              <a:rPr lang="en-US" altLang="ko-KR" dirty="0"/>
              <a:t>5. [TODO] Toward state-of-the art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118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4832B-C21A-01D9-9A84-36940352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0. </a:t>
            </a:r>
            <a:r>
              <a:rPr lang="ko-KR" altLang="en-US" dirty="0"/>
              <a:t>환경설정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830F17-EA2B-8B40-D6C6-EF8896BA9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 환경 </a:t>
            </a:r>
            <a:r>
              <a:rPr lang="en-US" altLang="ko-KR" dirty="0"/>
              <a:t>: </a:t>
            </a:r>
            <a:r>
              <a:rPr lang="en-US" altLang="ko-KR" dirty="0" err="1"/>
              <a:t>conda</a:t>
            </a:r>
            <a:r>
              <a:rPr lang="ko-KR" altLang="en-US" dirty="0"/>
              <a:t>로 가상환경을 만들어 </a:t>
            </a:r>
            <a:r>
              <a:rPr lang="en-US" altLang="ko-KR" dirty="0" err="1"/>
              <a:t>cuda</a:t>
            </a:r>
            <a:r>
              <a:rPr lang="ko-KR" altLang="en-US" dirty="0"/>
              <a:t>를 사용해 실행했다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이 때</a:t>
            </a:r>
            <a:r>
              <a:rPr lang="en-US" altLang="ko-KR" dirty="0"/>
              <a:t>, requirements</a:t>
            </a:r>
            <a:r>
              <a:rPr lang="ko-KR" altLang="en-US" dirty="0"/>
              <a:t>의 </a:t>
            </a:r>
            <a:r>
              <a:rPr lang="en-US" altLang="ko-KR" dirty="0"/>
              <a:t>version</a:t>
            </a:r>
            <a:r>
              <a:rPr lang="ko-KR" altLang="en-US" dirty="0"/>
              <a:t>과 충돌이 일어나 몇 개는 아래와 같이 주석 처리했다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0525FA-AAFD-E27B-2A27-8455EEC7C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903" y="2590100"/>
            <a:ext cx="6098194" cy="32167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196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1874C-A856-7F21-5D12-E5370157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1-1. </a:t>
            </a:r>
            <a:r>
              <a:rPr lang="en-US" altLang="ko-KR" dirty="0" err="1"/>
              <a:t>MyAccuracy</a:t>
            </a:r>
            <a:r>
              <a:rPr lang="en-US" altLang="ko-KR" dirty="0"/>
              <a:t> class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58455D-E460-1623-C5C2-C43F3D9E9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5186588"/>
          </a:xfrm>
        </p:spPr>
        <p:txBody>
          <a:bodyPr>
            <a:normAutofit/>
          </a:bodyPr>
          <a:lstStyle/>
          <a:p>
            <a:r>
              <a:rPr lang="ko-KR" altLang="en-US" dirty="0"/>
              <a:t>과제 흐름 </a:t>
            </a:r>
            <a:r>
              <a:rPr lang="en-US" altLang="ko-KR" dirty="0"/>
              <a:t>: main</a:t>
            </a:r>
            <a:r>
              <a:rPr lang="ko-KR" altLang="en-US" dirty="0"/>
              <a:t>에서 </a:t>
            </a:r>
            <a:r>
              <a:rPr lang="en-US" altLang="ko-KR" dirty="0" err="1"/>
              <a:t>SimpleClassifier</a:t>
            </a:r>
            <a:r>
              <a:rPr lang="en-US" altLang="ko-KR" dirty="0"/>
              <a:t> class</a:t>
            </a:r>
            <a:r>
              <a:rPr lang="ko-KR" altLang="en-US" dirty="0"/>
              <a:t>를 호출해 실행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때 아래의 </a:t>
            </a:r>
            <a:r>
              <a:rPr lang="ko-KR" altLang="en-US" dirty="0">
                <a:solidFill>
                  <a:srgbClr val="FF0000"/>
                </a:solidFill>
              </a:rPr>
              <a:t>빨간 박스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Myclass</a:t>
            </a:r>
            <a:r>
              <a:rPr lang="en-US" altLang="ko-KR" dirty="0">
                <a:solidFill>
                  <a:srgbClr val="FF0000"/>
                </a:solidFill>
              </a:rPr>
              <a:t> class)</a:t>
            </a:r>
            <a:r>
              <a:rPr lang="ko-KR" altLang="en-US" dirty="0"/>
              <a:t>에서 </a:t>
            </a:r>
            <a:r>
              <a:rPr lang="en-US" altLang="ko-KR" dirty="0"/>
              <a:t>accuracy</a:t>
            </a:r>
            <a:r>
              <a:rPr lang="ko-KR" altLang="en-US" dirty="0"/>
              <a:t>를 계산하며 </a:t>
            </a:r>
            <a:r>
              <a:rPr lang="en-US" altLang="ko-KR" dirty="0" err="1"/>
              <a:t>wandb</a:t>
            </a:r>
            <a:r>
              <a:rPr lang="ko-KR" altLang="en-US" dirty="0"/>
              <a:t>에 기록해준다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Input (scores : model</a:t>
            </a:r>
            <a:r>
              <a:rPr lang="ko-KR" altLang="en-US" dirty="0"/>
              <a:t>의 </a:t>
            </a:r>
            <a:r>
              <a:rPr lang="en-US" altLang="ko-KR" dirty="0"/>
              <a:t>output (label</a:t>
            </a:r>
            <a:r>
              <a:rPr lang="ko-KR" altLang="en-US" dirty="0"/>
              <a:t>당 확률</a:t>
            </a:r>
            <a:r>
              <a:rPr lang="en-US" altLang="ko-KR" dirty="0"/>
              <a:t>), y : true label)</a:t>
            </a:r>
          </a:p>
          <a:p>
            <a:r>
              <a:rPr lang="en-US" altLang="ko-KR" dirty="0"/>
              <a:t>output (accuracy : </a:t>
            </a:r>
            <a:r>
              <a:rPr lang="ko-KR" altLang="en-US" dirty="0"/>
              <a:t>맞춘 비율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81FFA2-C288-252D-4A86-72EC490B2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43" y="3309530"/>
            <a:ext cx="6735115" cy="16004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C22B33D-4E23-49C9-C267-60D31ED2980B}"/>
              </a:ext>
            </a:extLst>
          </p:cNvPr>
          <p:cNvSpPr/>
          <p:nvPr/>
        </p:nvSpPr>
        <p:spPr>
          <a:xfrm>
            <a:off x="3106057" y="3813336"/>
            <a:ext cx="3178629" cy="1978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32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21783-9614-C5BA-3E90-48022BA0F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1-1. </a:t>
            </a:r>
            <a:r>
              <a:rPr lang="en-US" altLang="ko-KR" dirty="0" err="1"/>
              <a:t>MyAccuracy</a:t>
            </a:r>
            <a:r>
              <a:rPr lang="en-US" altLang="ko-KR" dirty="0"/>
              <a:t> class </a:t>
            </a:r>
            <a:r>
              <a:rPr lang="ko-KR" altLang="en-US" dirty="0"/>
              <a:t>구현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C5CCD-51AA-C797-C4CF-EE03F8A5C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5311797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batch</a:t>
            </a:r>
            <a:r>
              <a:rPr lang="ko-KR" altLang="en-US" sz="2000" dirty="0"/>
              <a:t>당 맞춘 총 개수 계산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TODO</a:t>
            </a:r>
            <a:r>
              <a:rPr lang="ko-KR" altLang="en-US" sz="2000" dirty="0"/>
              <a:t> </a:t>
            </a:r>
            <a:r>
              <a:rPr lang="en-US" altLang="ko-KR" sz="2000" dirty="0"/>
              <a:t>code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윗</a:t>
            </a:r>
            <a:r>
              <a:rPr lang="ko-KR" altLang="en-US" sz="2000" dirty="0"/>
              <a:t> 부분에서는 누적이 가능하게</a:t>
            </a:r>
            <a:r>
              <a:rPr lang="en-US" altLang="ko-KR" sz="2000" dirty="0"/>
              <a:t>, </a:t>
            </a:r>
            <a:r>
              <a:rPr lang="ko-KR" altLang="en-US" sz="2000" dirty="0"/>
              <a:t>아래 부분에서는 누적을 하므로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TODO code</a:t>
            </a:r>
            <a:r>
              <a:rPr lang="ko-KR" altLang="en-US" sz="2000" dirty="0"/>
              <a:t>에서는 맞춘 개수만 알아내면 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C37A7E-6E6C-3A86-1826-F7AA37A05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840" y="297647"/>
            <a:ext cx="2724722" cy="20562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AC50F0-954B-9CE4-3D7E-4C57F68533A3}"/>
              </a:ext>
            </a:extLst>
          </p:cNvPr>
          <p:cNvSpPr txBox="1"/>
          <p:nvPr/>
        </p:nvSpPr>
        <p:spPr>
          <a:xfrm>
            <a:off x="9116840" y="1930363"/>
            <a:ext cx="2814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solidFill>
                  <a:schemeClr val="bg1"/>
                </a:solidFill>
              </a:rPr>
              <a:t>MyAcuuracy</a:t>
            </a:r>
            <a:r>
              <a:rPr lang="en-US" altLang="ko-KR" b="1" dirty="0">
                <a:solidFill>
                  <a:schemeClr val="bg1"/>
                </a:solidFill>
              </a:rPr>
              <a:t> class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EA7945C-EC16-831C-DD2B-7B592B042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572" y="3637591"/>
            <a:ext cx="6453986" cy="260827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F86BB6-6833-2871-41FF-362FCFD13D12}"/>
              </a:ext>
            </a:extLst>
          </p:cNvPr>
          <p:cNvSpPr/>
          <p:nvPr/>
        </p:nvSpPr>
        <p:spPr>
          <a:xfrm>
            <a:off x="2878532" y="3628538"/>
            <a:ext cx="6446067" cy="26382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B73016-44AF-DD39-0733-5DC8A7835182}"/>
              </a:ext>
            </a:extLst>
          </p:cNvPr>
          <p:cNvSpPr/>
          <p:nvPr/>
        </p:nvSpPr>
        <p:spPr>
          <a:xfrm>
            <a:off x="9133440" y="681725"/>
            <a:ext cx="2717546" cy="1074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522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34D5-E76B-94B8-DF7D-BBBBBC622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13A3B-5BD3-2E0A-51B3-0F8A0318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1-1. </a:t>
            </a:r>
            <a:r>
              <a:rPr lang="en-US" altLang="ko-KR" dirty="0" err="1"/>
              <a:t>MyAccuracy</a:t>
            </a:r>
            <a:r>
              <a:rPr lang="en-US" altLang="ko-KR" dirty="0"/>
              <a:t> class </a:t>
            </a:r>
            <a:r>
              <a:rPr lang="ko-KR" altLang="en-US" dirty="0"/>
              <a:t>구현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62D03B-941B-433A-6EEF-4334E6895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5551714"/>
          </a:xfrm>
        </p:spPr>
        <p:txBody>
          <a:bodyPr>
            <a:normAutofit/>
          </a:bodyPr>
          <a:lstStyle/>
          <a:p>
            <a:r>
              <a:rPr lang="en-US" altLang="ko-KR" dirty="0"/>
              <a:t>batch</a:t>
            </a:r>
            <a:r>
              <a:rPr lang="ko-KR" altLang="en-US" dirty="0"/>
              <a:t>당 맞춘 총 개수 계산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1. input preds</a:t>
            </a:r>
            <a:r>
              <a:rPr lang="ko-KR" altLang="en-US" dirty="0"/>
              <a:t>의 </a:t>
            </a:r>
            <a:r>
              <a:rPr lang="en-US" altLang="ko-KR" dirty="0"/>
              <a:t>dim = 1</a:t>
            </a:r>
            <a:r>
              <a:rPr lang="ko-KR" altLang="en-US" dirty="0"/>
              <a:t>에 해당되는 것이 한</a:t>
            </a:r>
            <a:r>
              <a:rPr lang="en-US" altLang="ko-KR" dirty="0"/>
              <a:t> batch</a:t>
            </a:r>
            <a:r>
              <a:rPr lang="ko-KR" altLang="en-US" dirty="0"/>
              <a:t>당 </a:t>
            </a:r>
            <a:r>
              <a:rPr lang="en-US" altLang="ko-KR" dirty="0"/>
              <a:t>output</a:t>
            </a:r>
          </a:p>
          <a:p>
            <a:pPr marL="0" indent="0">
              <a:buNone/>
            </a:pPr>
            <a:r>
              <a:rPr lang="ko-KR" altLang="en-US" dirty="0"/>
              <a:t>이 때</a:t>
            </a:r>
            <a:r>
              <a:rPr lang="en-US" altLang="ko-KR" dirty="0"/>
              <a:t>, output</a:t>
            </a:r>
            <a:r>
              <a:rPr lang="ko-KR" altLang="en-US" dirty="0"/>
              <a:t>을 확률로 보고 진행했으므로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max</a:t>
            </a:r>
            <a:r>
              <a:rPr lang="ko-KR" altLang="en-US" dirty="0"/>
              <a:t>에 해당하는 </a:t>
            </a:r>
            <a:r>
              <a:rPr lang="en-US" altLang="ko-KR" dirty="0"/>
              <a:t>label</a:t>
            </a:r>
            <a:r>
              <a:rPr lang="ko-KR" altLang="en-US" dirty="0"/>
              <a:t>을 정답으로 택한다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shape</a:t>
            </a:r>
            <a:r>
              <a:rPr lang="ko-KR" altLang="en-US" dirty="0"/>
              <a:t>이 같으면 이후 저 내용들은 주석처리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target</a:t>
            </a:r>
            <a:r>
              <a:rPr lang="ko-KR" altLang="en-US" dirty="0"/>
              <a:t>이 정답이므로 </a:t>
            </a:r>
            <a:r>
              <a:rPr lang="en-US" altLang="ko-KR" dirty="0"/>
              <a:t>target == </a:t>
            </a:r>
            <a:r>
              <a:rPr lang="en-US" altLang="ko-KR" dirty="0" err="1"/>
              <a:t>preds_lables</a:t>
            </a:r>
            <a:r>
              <a:rPr lang="ko-KR" altLang="en-US" dirty="0"/>
              <a:t>인 애들을 다 찾아 </a:t>
            </a:r>
            <a:r>
              <a:rPr lang="en-US" altLang="ko-KR" dirty="0"/>
              <a:t>count</a:t>
            </a:r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2BAA913-1808-E91D-BFFB-A725AB1CE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516" y="1816069"/>
            <a:ext cx="6453986" cy="260827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32541D-D7EC-BBBD-559E-C5A9804C2645}"/>
              </a:ext>
            </a:extLst>
          </p:cNvPr>
          <p:cNvSpPr/>
          <p:nvPr/>
        </p:nvSpPr>
        <p:spPr>
          <a:xfrm>
            <a:off x="2874476" y="1807016"/>
            <a:ext cx="6446067" cy="7822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476E55-F8C1-9990-0886-7C3E83C87C79}"/>
              </a:ext>
            </a:extLst>
          </p:cNvPr>
          <p:cNvSpPr/>
          <p:nvPr/>
        </p:nvSpPr>
        <p:spPr>
          <a:xfrm>
            <a:off x="2874476" y="2602212"/>
            <a:ext cx="6446067" cy="13360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310E4A-E373-1F61-456F-AD75792E41A1}"/>
              </a:ext>
            </a:extLst>
          </p:cNvPr>
          <p:cNvSpPr/>
          <p:nvPr/>
        </p:nvSpPr>
        <p:spPr>
          <a:xfrm>
            <a:off x="2874476" y="3913455"/>
            <a:ext cx="6446067" cy="5136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ED39F-62F1-B545-390F-E17CEB23AE1D}"/>
              </a:ext>
            </a:extLst>
          </p:cNvPr>
          <p:cNvSpPr txBox="1"/>
          <p:nvPr/>
        </p:nvSpPr>
        <p:spPr>
          <a:xfrm>
            <a:off x="2230551" y="1905765"/>
            <a:ext cx="642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FF0000"/>
                </a:solidFill>
              </a:rPr>
              <a:t>1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9EEDF-6B6D-06B8-21BE-69AC5A64D978}"/>
              </a:ext>
            </a:extLst>
          </p:cNvPr>
          <p:cNvSpPr txBox="1"/>
          <p:nvPr/>
        </p:nvSpPr>
        <p:spPr>
          <a:xfrm>
            <a:off x="2230551" y="2886875"/>
            <a:ext cx="642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FF0000"/>
                </a:solidFill>
              </a:rPr>
              <a:t>2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547F9-C2B1-5CEA-A66D-37182478AA45}"/>
              </a:ext>
            </a:extLst>
          </p:cNvPr>
          <p:cNvSpPr txBox="1"/>
          <p:nvPr/>
        </p:nvSpPr>
        <p:spPr>
          <a:xfrm>
            <a:off x="2230551" y="3867985"/>
            <a:ext cx="642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FF0000"/>
                </a:solidFill>
              </a:rPr>
              <a:t>3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97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15B2-6278-6BC5-4307-B4F1A470B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08D15-3C8A-93CB-D5F4-5046DD6D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1-1. </a:t>
            </a:r>
            <a:r>
              <a:rPr lang="en-US" altLang="ko-KR" dirty="0" err="1"/>
              <a:t>MyAccuracy</a:t>
            </a:r>
            <a:r>
              <a:rPr lang="en-US" altLang="ko-KR" dirty="0"/>
              <a:t> class </a:t>
            </a:r>
            <a:r>
              <a:rPr lang="ko-KR" altLang="en-US" b="1" dirty="0">
                <a:solidFill>
                  <a:srgbClr val="FF0000"/>
                </a:solidFill>
              </a:rPr>
              <a:t>확인 </a:t>
            </a:r>
            <a:r>
              <a:rPr lang="en-US" altLang="ko-KR" b="1" dirty="0">
                <a:solidFill>
                  <a:srgbClr val="FF0000"/>
                </a:solidFill>
              </a:rPr>
              <a:t>(test.py </a:t>
            </a:r>
            <a:r>
              <a:rPr lang="ko-KR" altLang="en-US" b="1" dirty="0">
                <a:solidFill>
                  <a:srgbClr val="FF0000"/>
                </a:solidFill>
              </a:rPr>
              <a:t>실행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1F1253-6D9A-2616-A2B2-34B1BBC1E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5551714"/>
          </a:xfrm>
        </p:spPr>
        <p:txBody>
          <a:bodyPr>
            <a:normAutofit/>
          </a:bodyPr>
          <a:lstStyle/>
          <a:p>
            <a:r>
              <a:rPr lang="en-US" altLang="ko-KR" dirty="0"/>
              <a:t>Validation </a:t>
            </a:r>
            <a:r>
              <a:rPr lang="ko-KR" altLang="en-US" dirty="0"/>
              <a:t>데이터에서 진행한 것이라 </a:t>
            </a:r>
            <a:r>
              <a:rPr lang="en-US" altLang="ko-KR" dirty="0"/>
              <a:t>batch size = 1</a:t>
            </a:r>
          </a:p>
          <a:p>
            <a:endParaRPr lang="en-US" altLang="ko-KR" dirty="0"/>
          </a:p>
          <a:p>
            <a:r>
              <a:rPr lang="en-US" altLang="ko-KR" dirty="0"/>
              <a:t>1. preds : </a:t>
            </a:r>
            <a:r>
              <a:rPr lang="ko-KR" altLang="en-US" dirty="0"/>
              <a:t>실제 </a:t>
            </a:r>
            <a:r>
              <a:rPr lang="en-US" altLang="ko-KR" dirty="0"/>
              <a:t>loss </a:t>
            </a:r>
            <a:r>
              <a:rPr lang="ko-KR" altLang="en-US" dirty="0"/>
              <a:t>함수</a:t>
            </a:r>
            <a:r>
              <a:rPr lang="en-US" altLang="ko-KR" dirty="0"/>
              <a:t>(</a:t>
            </a:r>
            <a:r>
              <a:rPr lang="en-US" altLang="ko-KR" dirty="0" err="1"/>
              <a:t>CrossEntropy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en-US" altLang="ko-KR" dirty="0" err="1"/>
              <a:t>Softmax</a:t>
            </a:r>
            <a:r>
              <a:rPr lang="ko-KR" altLang="en-US" dirty="0"/>
              <a:t>를 처리해주기 때문에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0~1</a:t>
            </a:r>
            <a:r>
              <a:rPr lang="ko-KR" altLang="en-US" dirty="0"/>
              <a:t>사이 값이 아닐</a:t>
            </a:r>
            <a:r>
              <a:rPr lang="en-US" altLang="ko-KR" dirty="0"/>
              <a:t> </a:t>
            </a:r>
            <a:r>
              <a:rPr lang="ko-KR" altLang="en-US" dirty="0"/>
              <a:t>수도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target : </a:t>
            </a:r>
            <a:r>
              <a:rPr lang="ko-KR" altLang="en-US" dirty="0"/>
              <a:t>정답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en-US" altLang="ko-KR" dirty="0" err="1"/>
              <a:t>pred_labels</a:t>
            </a:r>
            <a:r>
              <a:rPr lang="en-US" altLang="ko-KR" dirty="0"/>
              <a:t> : </a:t>
            </a:r>
            <a:r>
              <a:rPr lang="en-US" altLang="ko-KR" dirty="0" err="1"/>
              <a:t>softmax</a:t>
            </a:r>
            <a:r>
              <a:rPr lang="ko-KR" altLang="en-US" dirty="0"/>
              <a:t>는 증가함수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이기 때문에 </a:t>
            </a:r>
            <a:r>
              <a:rPr lang="en-US" altLang="ko-KR" dirty="0"/>
              <a:t>raw output</a:t>
            </a:r>
            <a:r>
              <a:rPr lang="ko-KR" altLang="en-US" dirty="0"/>
              <a:t>을 </a:t>
            </a:r>
            <a:r>
              <a:rPr lang="en-US" altLang="ko-KR" dirty="0"/>
              <a:t>argmax</a:t>
            </a:r>
            <a:r>
              <a:rPr lang="ko-KR" altLang="en-US" dirty="0"/>
              <a:t> 해서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가장 큰 값을 추출해도 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4. correct : </a:t>
            </a:r>
            <a:r>
              <a:rPr lang="ko-KR" altLang="en-US" dirty="0" err="1"/>
              <a:t>예측값이</a:t>
            </a:r>
            <a:r>
              <a:rPr lang="ko-KR" altLang="en-US" dirty="0"/>
              <a:t> 맞으면 </a:t>
            </a:r>
            <a:r>
              <a:rPr lang="en-US" altLang="ko-KR" dirty="0"/>
              <a:t>1</a:t>
            </a:r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데이터 </a:t>
            </a:r>
            <a:r>
              <a:rPr lang="en-US" altLang="ko-KR" dirty="0"/>
              <a:t>1</a:t>
            </a:r>
            <a:r>
              <a:rPr lang="ko-KR" altLang="en-US" dirty="0"/>
              <a:t>은 </a:t>
            </a:r>
            <a:r>
              <a:rPr lang="en-US" altLang="ko-KR" dirty="0"/>
              <a:t>26 != 49</a:t>
            </a:r>
            <a:r>
              <a:rPr lang="ko-KR" altLang="en-US" dirty="0"/>
              <a:t>라 </a:t>
            </a:r>
            <a:r>
              <a:rPr lang="en-US" altLang="ko-KR" dirty="0"/>
              <a:t>0</a:t>
            </a:r>
            <a:r>
              <a:rPr lang="ko-KR" altLang="en-US" dirty="0"/>
              <a:t>이고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ko-KR" altLang="en-US" dirty="0"/>
              <a:t>데이터 </a:t>
            </a:r>
            <a:r>
              <a:rPr lang="en-US" altLang="ko-KR" dirty="0"/>
              <a:t>2</a:t>
            </a:r>
            <a:r>
              <a:rPr lang="ko-KR" altLang="en-US" dirty="0"/>
              <a:t>는 </a:t>
            </a:r>
            <a:r>
              <a:rPr lang="en-US" altLang="ko-KR" dirty="0"/>
              <a:t>26 == 26</a:t>
            </a:r>
            <a:r>
              <a:rPr lang="ko-KR" altLang="en-US" dirty="0"/>
              <a:t>이라 </a:t>
            </a:r>
            <a:r>
              <a:rPr lang="en-US" altLang="ko-KR" dirty="0"/>
              <a:t>1</a:t>
            </a:r>
            <a:r>
              <a:rPr lang="ko-KR" altLang="en-US" dirty="0"/>
              <a:t>이다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3D918E2-19DC-6032-82FD-D1743E52B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449" y="1865070"/>
            <a:ext cx="2742255" cy="425161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7DBEA74-975A-6386-78F5-F6BE760F9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793" y="1865070"/>
            <a:ext cx="2075484" cy="42156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04C10DF-E1AF-05F7-F281-6B18998B1B00}"/>
              </a:ext>
            </a:extLst>
          </p:cNvPr>
          <p:cNvSpPr txBox="1"/>
          <p:nvPr/>
        </p:nvSpPr>
        <p:spPr>
          <a:xfrm>
            <a:off x="6790099" y="6114882"/>
            <a:ext cx="2362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데이터 </a:t>
            </a:r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C5AED1-C2D1-AD00-8A0B-2540F7CE2CAF}"/>
              </a:ext>
            </a:extLst>
          </p:cNvPr>
          <p:cNvSpPr txBox="1"/>
          <p:nvPr/>
        </p:nvSpPr>
        <p:spPr>
          <a:xfrm>
            <a:off x="9384058" y="6114882"/>
            <a:ext cx="2362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데이터 </a:t>
            </a:r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7A808E-11F9-CE42-922E-35DD8AEAF69D}"/>
              </a:ext>
            </a:extLst>
          </p:cNvPr>
          <p:cNvSpPr/>
          <p:nvPr/>
        </p:nvSpPr>
        <p:spPr>
          <a:xfrm>
            <a:off x="6595451" y="2004684"/>
            <a:ext cx="2745774" cy="3608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7A734E-683D-C78C-4482-57688A4079B4}"/>
              </a:ext>
            </a:extLst>
          </p:cNvPr>
          <p:cNvSpPr/>
          <p:nvPr/>
        </p:nvSpPr>
        <p:spPr>
          <a:xfrm>
            <a:off x="6595451" y="5626071"/>
            <a:ext cx="2745774" cy="496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0DAC25E-0871-990A-8515-32F664338C54}"/>
              </a:ext>
            </a:extLst>
          </p:cNvPr>
          <p:cNvCxnSpPr>
            <a:cxnSpLocks/>
          </p:cNvCxnSpPr>
          <p:nvPr/>
        </p:nvCxnSpPr>
        <p:spPr>
          <a:xfrm flipV="1">
            <a:off x="2389013" y="2133600"/>
            <a:ext cx="4204959" cy="258051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DB7D5A1-EBB9-2654-874E-47568CC37996}"/>
              </a:ext>
            </a:extLst>
          </p:cNvPr>
          <p:cNvCxnSpPr>
            <a:cxnSpLocks/>
          </p:cNvCxnSpPr>
          <p:nvPr/>
        </p:nvCxnSpPr>
        <p:spPr>
          <a:xfrm>
            <a:off x="3392023" y="3782856"/>
            <a:ext cx="4156259" cy="1918697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7A2BF9D-F222-CAFA-120A-4AC9D1419327}"/>
              </a:ext>
            </a:extLst>
          </p:cNvPr>
          <p:cNvCxnSpPr>
            <a:cxnSpLocks/>
          </p:cNvCxnSpPr>
          <p:nvPr/>
        </p:nvCxnSpPr>
        <p:spPr>
          <a:xfrm>
            <a:off x="3069360" y="4393862"/>
            <a:ext cx="4520276" cy="1480621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A1D4924-643D-D94B-5DB1-8E42E772B1BB}"/>
              </a:ext>
            </a:extLst>
          </p:cNvPr>
          <p:cNvCxnSpPr>
            <a:cxnSpLocks/>
          </p:cNvCxnSpPr>
          <p:nvPr/>
        </p:nvCxnSpPr>
        <p:spPr>
          <a:xfrm>
            <a:off x="5015402" y="6015209"/>
            <a:ext cx="2461163" cy="24010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9CE9FAC-B8A8-BCEE-E848-D5DD1DF216D7}"/>
              </a:ext>
            </a:extLst>
          </p:cNvPr>
          <p:cNvCxnSpPr>
            <a:cxnSpLocks/>
          </p:cNvCxnSpPr>
          <p:nvPr/>
        </p:nvCxnSpPr>
        <p:spPr>
          <a:xfrm flipV="1">
            <a:off x="5395678" y="5919290"/>
            <a:ext cx="5066134" cy="570064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379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2CE82-A180-A3EA-D1F7-2855DAC6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1-2. MyF1Score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AC6339-0CFC-9CE5-A92E-03407D364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3"/>
            <a:ext cx="10515600" cy="5561381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MyAccuracy</a:t>
            </a:r>
            <a:r>
              <a:rPr lang="ko-KR" altLang="en-US" dirty="0"/>
              <a:t>에서 </a:t>
            </a:r>
            <a:r>
              <a:rPr lang="en-US" altLang="ko-KR" dirty="0" err="1"/>
              <a:t>predict_label</a:t>
            </a:r>
            <a:r>
              <a:rPr lang="en-US" altLang="ko-KR" dirty="0"/>
              <a:t>, true label</a:t>
            </a:r>
            <a:r>
              <a:rPr lang="ko-KR" altLang="en-US" dirty="0"/>
              <a:t>을 비교하여 </a:t>
            </a:r>
            <a:r>
              <a:rPr lang="en-US" altLang="ko-KR" dirty="0"/>
              <a:t>correct</a:t>
            </a:r>
            <a:r>
              <a:rPr lang="ko-KR" altLang="en-US" dirty="0"/>
              <a:t>를 따졌다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그냥 이 값을 </a:t>
            </a:r>
            <a:r>
              <a:rPr lang="en-US" altLang="ko-KR" dirty="0"/>
              <a:t>index</a:t>
            </a:r>
            <a:r>
              <a:rPr lang="ko-KR" altLang="en-US" dirty="0"/>
              <a:t>로 행렬에 누적해주면 </a:t>
            </a:r>
            <a:r>
              <a:rPr lang="en-US" altLang="ko-KR" dirty="0"/>
              <a:t>evaluation matrix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완성된다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en-US" altLang="ko-KR" dirty="0" err="1"/>
              <a:t>MyAccuracy</a:t>
            </a:r>
            <a:r>
              <a:rPr lang="en-US" altLang="ko-KR" dirty="0"/>
              <a:t> class</a:t>
            </a:r>
            <a:r>
              <a:rPr lang="ko-KR" altLang="en-US" dirty="0"/>
              <a:t>처럼 누적될 수 있게 생성자에서 선언한다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en-US" altLang="ko-KR" dirty="0" err="1"/>
              <a:t>MyAccuracy</a:t>
            </a:r>
            <a:r>
              <a:rPr lang="en-US" altLang="ko-KR" dirty="0"/>
              <a:t> class</a:t>
            </a:r>
            <a:r>
              <a:rPr lang="ko-KR" altLang="en-US" dirty="0"/>
              <a:t>처럼 </a:t>
            </a:r>
            <a:r>
              <a:rPr lang="en-US" altLang="ko-KR" dirty="0"/>
              <a:t>argmax</a:t>
            </a:r>
            <a:r>
              <a:rPr lang="ko-KR" altLang="en-US" dirty="0"/>
              <a:t>로 </a:t>
            </a:r>
            <a:r>
              <a:rPr lang="en-US" altLang="ko-KR" dirty="0"/>
              <a:t>label</a:t>
            </a:r>
            <a:r>
              <a:rPr lang="ko-KR" altLang="en-US" dirty="0"/>
              <a:t>을 </a:t>
            </a:r>
            <a:r>
              <a:rPr lang="en-US" altLang="ko-KR" dirty="0"/>
              <a:t>predict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이것과 </a:t>
            </a:r>
            <a:r>
              <a:rPr lang="en-US" altLang="ko-KR" dirty="0"/>
              <a:t>true label</a:t>
            </a:r>
            <a:r>
              <a:rPr lang="ko-KR" altLang="en-US" dirty="0"/>
              <a:t>에 위치해 해당하는 </a:t>
            </a:r>
            <a:r>
              <a:rPr lang="en-US" altLang="ko-KR" dirty="0"/>
              <a:t>Evaluation Matrix </a:t>
            </a:r>
            <a:r>
              <a:rPr lang="ko-KR" altLang="en-US" dirty="0"/>
              <a:t>위치에 </a:t>
            </a:r>
            <a:r>
              <a:rPr lang="en-US" altLang="ko-KR" dirty="0"/>
              <a:t>1</a:t>
            </a:r>
            <a:r>
              <a:rPr lang="ko-KR" altLang="en-US" dirty="0"/>
              <a:t>을 더해준다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8C5BC4-F0EB-81CF-C1F6-163074A9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89" y="2205682"/>
            <a:ext cx="8829948" cy="264413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9AC30C6-9BAD-BB8F-F085-205D83533044}"/>
              </a:ext>
            </a:extLst>
          </p:cNvPr>
          <p:cNvSpPr/>
          <p:nvPr/>
        </p:nvSpPr>
        <p:spPr>
          <a:xfrm>
            <a:off x="1742798" y="2958663"/>
            <a:ext cx="8782531" cy="7686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32326-2717-6FE7-231E-83044340D6D6}"/>
              </a:ext>
            </a:extLst>
          </p:cNvPr>
          <p:cNvSpPr txBox="1"/>
          <p:nvPr/>
        </p:nvSpPr>
        <p:spPr>
          <a:xfrm>
            <a:off x="957247" y="3050603"/>
            <a:ext cx="642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FF0000"/>
                </a:solidFill>
              </a:rPr>
              <a:t>1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A2594-ECEB-3BF9-B42C-86FC27FA5967}"/>
              </a:ext>
            </a:extLst>
          </p:cNvPr>
          <p:cNvSpPr txBox="1"/>
          <p:nvPr/>
        </p:nvSpPr>
        <p:spPr>
          <a:xfrm>
            <a:off x="957247" y="4016536"/>
            <a:ext cx="642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FF0000"/>
                </a:solidFill>
              </a:rPr>
              <a:t>2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6AA2F2-494B-8BE8-29E4-C62A15C8FFDD}"/>
              </a:ext>
            </a:extLst>
          </p:cNvPr>
          <p:cNvSpPr/>
          <p:nvPr/>
        </p:nvSpPr>
        <p:spPr>
          <a:xfrm>
            <a:off x="1742798" y="3727319"/>
            <a:ext cx="8782531" cy="1122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8ED0923-1B8A-5EE9-4F50-315053DB3E93}"/>
              </a:ext>
            </a:extLst>
          </p:cNvPr>
          <p:cNvCxnSpPr>
            <a:cxnSpLocks/>
          </p:cNvCxnSpPr>
          <p:nvPr/>
        </p:nvCxnSpPr>
        <p:spPr>
          <a:xfrm flipH="1" flipV="1">
            <a:off x="5172635" y="4849814"/>
            <a:ext cx="2734236" cy="1154550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D49FA6-3B77-E8AD-E7C9-3E67D45BFC48}"/>
              </a:ext>
            </a:extLst>
          </p:cNvPr>
          <p:cNvSpPr/>
          <p:nvPr/>
        </p:nvSpPr>
        <p:spPr>
          <a:xfrm>
            <a:off x="3078539" y="4578966"/>
            <a:ext cx="2318213" cy="2350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685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7984-5644-5422-D43B-D2F1BCFE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738DF-5740-7D66-88C3-33BF1E5C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1-2. MyF1Score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EF23B7-9099-7C7C-2B4E-174CF2059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3"/>
            <a:ext cx="10515600" cy="5561381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3. F1Score </a:t>
            </a:r>
            <a:r>
              <a:rPr lang="ko-KR" altLang="en-US" dirty="0"/>
              <a:t>계산</a:t>
            </a:r>
            <a:endParaRPr lang="en-US" altLang="ko-KR" dirty="0"/>
          </a:p>
          <a:p>
            <a:r>
              <a:rPr lang="en-US" altLang="ko-KR" dirty="0"/>
              <a:t>TP (predict</a:t>
            </a:r>
            <a:r>
              <a:rPr lang="ko-KR" altLang="en-US" dirty="0"/>
              <a:t>해 맞춘 것</a:t>
            </a:r>
            <a:r>
              <a:rPr lang="en-US" altLang="ko-KR" dirty="0"/>
              <a:t>) : evaluation matrix</a:t>
            </a:r>
            <a:r>
              <a:rPr lang="ko-KR" altLang="en-US" dirty="0"/>
              <a:t>의 대각선에 위치한 값</a:t>
            </a:r>
            <a:endParaRPr lang="en-US" altLang="ko-KR" dirty="0"/>
          </a:p>
          <a:p>
            <a:r>
              <a:rPr lang="en-US" altLang="ko-KR" dirty="0"/>
              <a:t>FP (true label</a:t>
            </a:r>
            <a:r>
              <a:rPr lang="ko-KR" altLang="en-US" dirty="0"/>
              <a:t>로 </a:t>
            </a:r>
            <a:r>
              <a:rPr lang="en-US" altLang="ko-KR" dirty="0"/>
              <a:t>predict</a:t>
            </a:r>
            <a:r>
              <a:rPr lang="ko-KR" altLang="en-US" dirty="0"/>
              <a:t>해야 하는데</a:t>
            </a:r>
            <a:r>
              <a:rPr lang="en-US" altLang="ko-KR" dirty="0"/>
              <a:t>, </a:t>
            </a:r>
            <a:r>
              <a:rPr lang="ko-KR" altLang="en-US" dirty="0"/>
              <a:t>다른 걸로 </a:t>
            </a:r>
            <a:r>
              <a:rPr lang="en-US" altLang="ko-KR" dirty="0"/>
              <a:t>predict) : </a:t>
            </a:r>
          </a:p>
          <a:p>
            <a:pPr marL="0" indent="0">
              <a:buNone/>
            </a:pPr>
            <a:r>
              <a:rPr lang="en-US" altLang="ko-KR" dirty="0"/>
              <a:t>dim = 0</a:t>
            </a:r>
            <a:r>
              <a:rPr lang="ko-KR" altLang="en-US" dirty="0"/>
              <a:t>위치가 </a:t>
            </a:r>
            <a:r>
              <a:rPr lang="en-US" altLang="ko-KR" dirty="0"/>
              <a:t>predict</a:t>
            </a:r>
            <a:r>
              <a:rPr lang="ko-KR" altLang="en-US" dirty="0"/>
              <a:t>에 해당하므로 </a:t>
            </a:r>
            <a:r>
              <a:rPr lang="en-US" altLang="ko-KR" dirty="0"/>
              <a:t>dim = 1</a:t>
            </a:r>
            <a:r>
              <a:rPr lang="ko-KR" altLang="en-US" dirty="0"/>
              <a:t>에 해당하는 것을 다 더하면</a:t>
            </a:r>
            <a:r>
              <a:rPr lang="en-US" altLang="ko-KR" dirty="0"/>
              <a:t>, true label</a:t>
            </a:r>
            <a:r>
              <a:rPr lang="ko-KR" altLang="en-US" dirty="0"/>
              <a:t>로 </a:t>
            </a:r>
            <a:r>
              <a:rPr lang="en-US" altLang="ko-KR" dirty="0"/>
              <a:t>predict</a:t>
            </a:r>
            <a:r>
              <a:rPr lang="ko-KR" altLang="en-US" dirty="0"/>
              <a:t>한 개수이다</a:t>
            </a:r>
            <a:r>
              <a:rPr lang="en-US" altLang="ko-KR" dirty="0"/>
              <a:t>. </a:t>
            </a:r>
            <a:r>
              <a:rPr lang="ko-KR" altLang="en-US" dirty="0"/>
              <a:t>그 중</a:t>
            </a:r>
            <a:r>
              <a:rPr lang="en-US" altLang="ko-KR" dirty="0"/>
              <a:t>, TP</a:t>
            </a:r>
            <a:r>
              <a:rPr lang="ko-KR" altLang="en-US" dirty="0"/>
              <a:t>를 빼면 </a:t>
            </a:r>
            <a:r>
              <a:rPr lang="en-US" altLang="ko-KR" dirty="0"/>
              <a:t>FP</a:t>
            </a:r>
            <a:r>
              <a:rPr lang="ko-KR" altLang="en-US" dirty="0"/>
              <a:t>가 나온다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FN (</a:t>
            </a:r>
            <a:r>
              <a:rPr lang="ko-KR" altLang="en-US" dirty="0"/>
              <a:t>다른 </a:t>
            </a:r>
            <a:r>
              <a:rPr lang="en-US" altLang="ko-KR" dirty="0"/>
              <a:t>label</a:t>
            </a:r>
            <a:r>
              <a:rPr lang="ko-KR" altLang="en-US" dirty="0"/>
              <a:t>이 </a:t>
            </a:r>
            <a:r>
              <a:rPr lang="en-US" altLang="ko-KR" dirty="0"/>
              <a:t>true label</a:t>
            </a:r>
            <a:r>
              <a:rPr lang="ko-KR" altLang="en-US" dirty="0"/>
              <a:t>로 잘못 </a:t>
            </a:r>
            <a:r>
              <a:rPr lang="en-US" altLang="ko-KR" dirty="0"/>
              <a:t>predict) : FP</a:t>
            </a:r>
            <a:r>
              <a:rPr lang="ko-KR" altLang="en-US" dirty="0"/>
              <a:t>와 같은 메커니즘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이후는 </a:t>
            </a:r>
            <a:r>
              <a:rPr lang="en-US" altLang="ko-KR" dirty="0" err="1"/>
              <a:t>torch.tensor</a:t>
            </a:r>
            <a:r>
              <a:rPr lang="ko-KR" altLang="en-US" dirty="0"/>
              <a:t>가 나눗셈을 </a:t>
            </a:r>
            <a:r>
              <a:rPr lang="en-US" altLang="ko-KR" dirty="0"/>
              <a:t>elementwise</a:t>
            </a:r>
            <a:r>
              <a:rPr lang="ko-KR" altLang="en-US" dirty="0"/>
              <a:t>로 진행하는 것을 이용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CEDB15-8B5E-C41E-51FC-35B90FEF5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567" y="1051133"/>
            <a:ext cx="5136867" cy="22457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C05852-FE3A-C3A6-045F-8AB7061F9E4C}"/>
              </a:ext>
            </a:extLst>
          </p:cNvPr>
          <p:cNvSpPr txBox="1"/>
          <p:nvPr/>
        </p:nvSpPr>
        <p:spPr>
          <a:xfrm>
            <a:off x="2767308" y="1707457"/>
            <a:ext cx="642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FF0000"/>
                </a:solidFill>
              </a:rPr>
              <a:t>3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8507E2D-BFC2-E1A8-DF4C-E2E7F296A004}"/>
              </a:ext>
            </a:extLst>
          </p:cNvPr>
          <p:cNvSpPr/>
          <p:nvPr/>
        </p:nvSpPr>
        <p:spPr>
          <a:xfrm>
            <a:off x="3499028" y="1042176"/>
            <a:ext cx="5180516" cy="22670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6055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1DF25-26F5-65A0-C424-36573CB87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1-2. MyF1Score </a:t>
            </a:r>
            <a:r>
              <a:rPr lang="ko-KR" altLang="en-US" b="1" dirty="0">
                <a:solidFill>
                  <a:srgbClr val="FF0000"/>
                </a:solidFill>
              </a:rPr>
              <a:t>확인 </a:t>
            </a:r>
            <a:r>
              <a:rPr lang="en-US" altLang="ko-KR" b="1" dirty="0">
                <a:solidFill>
                  <a:srgbClr val="FF0000"/>
                </a:solidFill>
              </a:rPr>
              <a:t>(test.py </a:t>
            </a:r>
            <a:r>
              <a:rPr lang="ko-KR" altLang="en-US" b="1" dirty="0">
                <a:solidFill>
                  <a:srgbClr val="FF0000"/>
                </a:solidFill>
              </a:rPr>
              <a:t>실행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08AC21-EB36-E791-AFE5-49074BF41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4"/>
            <a:ext cx="10515600" cy="5457242"/>
          </a:xfrm>
        </p:spPr>
        <p:txBody>
          <a:bodyPr>
            <a:normAutofit/>
          </a:bodyPr>
          <a:lstStyle/>
          <a:p>
            <a:r>
              <a:rPr lang="en-US" altLang="ko-KR" dirty="0"/>
              <a:t>Validation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가 </a:t>
            </a:r>
            <a:r>
              <a:rPr lang="en-US" altLang="ko-KR" dirty="0"/>
              <a:t>each class</a:t>
            </a:r>
            <a:r>
              <a:rPr lang="ko-KR" altLang="en-US" dirty="0"/>
              <a:t>에 </a:t>
            </a:r>
            <a:r>
              <a:rPr lang="en-US" altLang="ko-KR" dirty="0"/>
              <a:t>50</a:t>
            </a:r>
            <a:r>
              <a:rPr lang="ko-KR" altLang="en-US" dirty="0"/>
              <a:t>개로 </a:t>
            </a:r>
            <a:r>
              <a:rPr lang="en-US" altLang="ko-KR" dirty="0"/>
              <a:t>setting</a:t>
            </a:r>
            <a:r>
              <a:rPr lang="ko-KR" altLang="en-US" dirty="0"/>
              <a:t>되어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각 </a:t>
            </a:r>
            <a:r>
              <a:rPr lang="en-US" altLang="ko-KR" dirty="0"/>
              <a:t>true label</a:t>
            </a:r>
            <a:r>
              <a:rPr lang="ko-KR" altLang="en-US" dirty="0"/>
              <a:t>에 해당하는 값은 총 </a:t>
            </a:r>
            <a:r>
              <a:rPr lang="en-US" altLang="ko-KR" dirty="0"/>
              <a:t>50</a:t>
            </a:r>
            <a:r>
              <a:rPr lang="ko-KR" altLang="en-US" dirty="0"/>
              <a:t>개이다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TP + FN = 50</a:t>
            </a:r>
            <a:r>
              <a:rPr lang="ko-KR" altLang="en-US" dirty="0"/>
              <a:t>이 나와야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TP+FN</a:t>
            </a:r>
            <a:r>
              <a:rPr lang="ko-KR" altLang="en-US" dirty="0"/>
              <a:t>이 </a:t>
            </a:r>
            <a:r>
              <a:rPr lang="en-US" altLang="ko-KR" dirty="0"/>
              <a:t>50</a:t>
            </a:r>
            <a:r>
              <a:rPr lang="ko-KR" altLang="en-US" dirty="0"/>
              <a:t>으로 잘 나오며</a:t>
            </a:r>
            <a:r>
              <a:rPr lang="en-US" altLang="ko-KR" dirty="0"/>
              <a:t>, Evaluation matrix</a:t>
            </a:r>
            <a:r>
              <a:rPr lang="ko-KR" altLang="en-US" dirty="0"/>
              <a:t>와 </a:t>
            </a:r>
            <a:r>
              <a:rPr lang="en-US" altLang="ko-KR" dirty="0"/>
              <a:t>TP</a:t>
            </a:r>
            <a:r>
              <a:rPr lang="ko-KR" altLang="en-US" dirty="0"/>
              <a:t>가 잘 맞는다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추가로 </a:t>
            </a:r>
            <a:r>
              <a:rPr lang="en-US" altLang="ko-KR" dirty="0"/>
              <a:t>F1Score</a:t>
            </a:r>
            <a:r>
              <a:rPr lang="ko-KR" altLang="en-US" dirty="0"/>
              <a:t>도 </a:t>
            </a:r>
            <a:r>
              <a:rPr lang="en-US" altLang="ko-KR" dirty="0"/>
              <a:t>Class</a:t>
            </a:r>
            <a:r>
              <a:rPr lang="ko-KR" altLang="en-US" dirty="0"/>
              <a:t>별로 잘 나온다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6A0C55-55FB-9FE5-65C7-CE4303900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575" y="2004138"/>
            <a:ext cx="5066877" cy="19704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902AF3-710D-02E4-E82A-6199CB701BD7}"/>
              </a:ext>
            </a:extLst>
          </p:cNvPr>
          <p:cNvSpPr txBox="1"/>
          <p:nvPr/>
        </p:nvSpPr>
        <p:spPr>
          <a:xfrm>
            <a:off x="8398218" y="1642850"/>
            <a:ext cx="2362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Evaluation matrix </a:t>
            </a:r>
            <a:r>
              <a:rPr lang="ko-KR" altLang="en-US" sz="1600" b="1" dirty="0"/>
              <a:t>일부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1A8ADE-3094-5BB7-9958-65F286BA1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648" y="2687630"/>
            <a:ext cx="3973924" cy="25739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46EEB4C-35B1-B666-3218-7B4E4417E801}"/>
              </a:ext>
            </a:extLst>
          </p:cNvPr>
          <p:cNvSpPr/>
          <p:nvPr/>
        </p:nvSpPr>
        <p:spPr>
          <a:xfrm>
            <a:off x="4090699" y="2700646"/>
            <a:ext cx="795066" cy="2552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43BF4AA-8914-8471-9E39-719BBF10404E}"/>
              </a:ext>
            </a:extLst>
          </p:cNvPr>
          <p:cNvCxnSpPr>
            <a:cxnSpLocks/>
          </p:cNvCxnSpPr>
          <p:nvPr/>
        </p:nvCxnSpPr>
        <p:spPr>
          <a:xfrm flipV="1">
            <a:off x="3003176" y="2458013"/>
            <a:ext cx="4903695" cy="654424"/>
          </a:xfrm>
          <a:prstGeom prst="straightConnector1">
            <a:avLst/>
          </a:prstGeom>
          <a:ln w="38100">
            <a:solidFill>
              <a:srgbClr val="FF0000">
                <a:alpha val="7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B10C5C-4D02-6550-5679-B4AB8D7E70DD}"/>
              </a:ext>
            </a:extLst>
          </p:cNvPr>
          <p:cNvSpPr/>
          <p:nvPr/>
        </p:nvSpPr>
        <p:spPr>
          <a:xfrm>
            <a:off x="2248451" y="2687630"/>
            <a:ext cx="880231" cy="5761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085DD2-94A7-436A-A65A-FE2212AFC8CD}"/>
              </a:ext>
            </a:extLst>
          </p:cNvPr>
          <p:cNvSpPr/>
          <p:nvPr/>
        </p:nvSpPr>
        <p:spPr>
          <a:xfrm>
            <a:off x="7906871" y="2285065"/>
            <a:ext cx="295835" cy="225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5C34DD-7B09-542B-DF7F-60663132EC23}"/>
              </a:ext>
            </a:extLst>
          </p:cNvPr>
          <p:cNvSpPr/>
          <p:nvPr/>
        </p:nvSpPr>
        <p:spPr>
          <a:xfrm>
            <a:off x="4908177" y="2700646"/>
            <a:ext cx="795066" cy="2552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3B82530-2029-44BD-80BE-B28B87C9EDD8}"/>
              </a:ext>
            </a:extLst>
          </p:cNvPr>
          <p:cNvCxnSpPr>
            <a:cxnSpLocks/>
          </p:cNvCxnSpPr>
          <p:nvPr/>
        </p:nvCxnSpPr>
        <p:spPr>
          <a:xfrm flipV="1">
            <a:off x="2490498" y="5261550"/>
            <a:ext cx="1739027" cy="405647"/>
          </a:xfrm>
          <a:prstGeom prst="straightConnector1">
            <a:avLst/>
          </a:prstGeom>
          <a:ln w="38100">
            <a:solidFill>
              <a:srgbClr val="FF0000">
                <a:alpha val="7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64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55703-CCAD-60EB-792B-9B688320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Train</a:t>
            </a:r>
            <a:r>
              <a:rPr lang="ko-KR" altLang="en-US" dirty="0"/>
              <a:t> </a:t>
            </a:r>
            <a:r>
              <a:rPr lang="en-US" altLang="ko-KR" dirty="0"/>
              <a:t>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4AEC31-D555-7147-450F-91AC522C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3"/>
            <a:ext cx="10515600" cy="5561381"/>
          </a:xfrm>
        </p:spPr>
        <p:txBody>
          <a:bodyPr>
            <a:normAutofit/>
          </a:bodyPr>
          <a:lstStyle/>
          <a:p>
            <a:r>
              <a:rPr lang="en-US" altLang="ko-KR" dirty="0"/>
              <a:t>Setting</a:t>
            </a:r>
            <a:r>
              <a:rPr lang="ko-KR" altLang="en-US" dirty="0"/>
              <a:t>을 바꿔가며 확인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기본 </a:t>
            </a:r>
            <a:r>
              <a:rPr lang="en-US" altLang="ko-KR" dirty="0">
                <a:solidFill>
                  <a:srgbClr val="FF0000"/>
                </a:solidFill>
              </a:rPr>
              <a:t>model(</a:t>
            </a:r>
            <a:r>
              <a:rPr lang="ko-KR" altLang="en-US" dirty="0">
                <a:solidFill>
                  <a:srgbClr val="FF0000"/>
                </a:solidFill>
              </a:rPr>
              <a:t>교수님이 주신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에서 조작 </a:t>
            </a:r>
            <a:r>
              <a:rPr lang="ko-KR" altLang="en-US" dirty="0" err="1">
                <a:solidFill>
                  <a:srgbClr val="FF0000"/>
                </a:solidFill>
              </a:rPr>
              <a:t>변인만</a:t>
            </a:r>
            <a:r>
              <a:rPr lang="ko-KR" altLang="en-US" dirty="0">
                <a:solidFill>
                  <a:srgbClr val="FF0000"/>
                </a:solidFill>
              </a:rPr>
              <a:t> 바꾸고 나머지는 기본 </a:t>
            </a:r>
            <a:r>
              <a:rPr lang="en-US" altLang="ko-KR" dirty="0">
                <a:solidFill>
                  <a:srgbClr val="FF0000"/>
                </a:solidFill>
              </a:rPr>
              <a:t>model</a:t>
            </a:r>
            <a:r>
              <a:rPr lang="ko-KR" altLang="en-US" dirty="0">
                <a:solidFill>
                  <a:srgbClr val="FF0000"/>
                </a:solidFill>
              </a:rPr>
              <a:t>의 설정과 동일하게 가져간다</a:t>
            </a:r>
            <a:r>
              <a:rPr lang="en-US" altLang="ko-KR" dirty="0">
                <a:solidFill>
                  <a:srgbClr val="FF0000"/>
                </a:solidFill>
              </a:rPr>
              <a:t>. (</a:t>
            </a:r>
            <a:r>
              <a:rPr lang="ko-KR" altLang="en-US" dirty="0">
                <a:solidFill>
                  <a:srgbClr val="FF0000"/>
                </a:solidFill>
              </a:rPr>
              <a:t>모두 </a:t>
            </a:r>
            <a:r>
              <a:rPr lang="en-US" altLang="ko-KR" dirty="0" err="1">
                <a:solidFill>
                  <a:srgbClr val="FF0000"/>
                </a:solidFill>
              </a:rPr>
              <a:t>resnet</a:t>
            </a:r>
            <a:r>
              <a:rPr lang="en-US" altLang="ko-KR" dirty="0">
                <a:solidFill>
                  <a:srgbClr val="FF0000"/>
                </a:solidFill>
              </a:rPr>
              <a:t> 18</a:t>
            </a:r>
            <a:r>
              <a:rPr lang="ko-KR" altLang="en-US" dirty="0">
                <a:solidFill>
                  <a:srgbClr val="FF0000"/>
                </a:solidFill>
              </a:rPr>
              <a:t>로 통일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확인하고자 하는 바 </a:t>
            </a:r>
            <a:r>
              <a:rPr lang="en-US" altLang="ko-KR" dirty="0"/>
              <a:t>(</a:t>
            </a:r>
            <a:r>
              <a:rPr lang="ko-KR" altLang="en-US" dirty="0"/>
              <a:t>직관 확인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조작 변인 </a:t>
            </a:r>
            <a:r>
              <a:rPr lang="en-US" altLang="ko-KR" dirty="0"/>
              <a:t>: batch size </a:t>
            </a:r>
            <a:r>
              <a:rPr lang="ko-KR" altLang="en-US" dirty="0"/>
              <a:t>감소 </a:t>
            </a:r>
            <a:r>
              <a:rPr lang="en-US" altLang="ko-KR" dirty="0"/>
              <a:t>(512 -&gt; 64)</a:t>
            </a:r>
          </a:p>
          <a:p>
            <a:pPr marL="0" indent="0">
              <a:buNone/>
            </a:pPr>
            <a:r>
              <a:rPr lang="en-US" altLang="ko-KR" dirty="0"/>
              <a:t>Batch size</a:t>
            </a:r>
            <a:r>
              <a:rPr lang="ko-KR" altLang="en-US" dirty="0"/>
              <a:t>를 줄였을 때</a:t>
            </a:r>
            <a:r>
              <a:rPr lang="en-US" altLang="ko-KR" dirty="0"/>
              <a:t>, epoch</a:t>
            </a:r>
            <a:r>
              <a:rPr lang="ko-KR" altLang="en-US" dirty="0"/>
              <a:t>에 따른 </a:t>
            </a:r>
            <a:r>
              <a:rPr lang="en-US" altLang="ko-KR" dirty="0"/>
              <a:t>loss</a:t>
            </a:r>
            <a:r>
              <a:rPr lang="ko-KR" altLang="en-US" dirty="0"/>
              <a:t>의 </a:t>
            </a:r>
            <a:r>
              <a:rPr lang="en-US" altLang="ko-KR" dirty="0"/>
              <a:t>noise</a:t>
            </a:r>
            <a:r>
              <a:rPr lang="ko-KR" altLang="en-US" dirty="0"/>
              <a:t>가 더 존재하는지 확인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조작 변인 </a:t>
            </a:r>
            <a:r>
              <a:rPr lang="en-US" altLang="ko-KR" dirty="0"/>
              <a:t>: momentum </a:t>
            </a:r>
            <a:r>
              <a:rPr lang="ko-KR" altLang="en-US" dirty="0"/>
              <a:t>제거 </a:t>
            </a:r>
            <a:r>
              <a:rPr lang="en-US" altLang="ko-KR" dirty="0"/>
              <a:t>(0.9 -&gt; 0)</a:t>
            </a:r>
          </a:p>
          <a:p>
            <a:pPr marL="0" indent="0">
              <a:buNone/>
            </a:pPr>
            <a:r>
              <a:rPr lang="en-US" altLang="ko-KR" dirty="0"/>
              <a:t>Momentum</a:t>
            </a:r>
            <a:r>
              <a:rPr lang="ko-KR" altLang="en-US" dirty="0"/>
              <a:t>을 없앴을 때</a:t>
            </a:r>
            <a:r>
              <a:rPr lang="en-US" altLang="ko-KR" dirty="0"/>
              <a:t>, epoch</a:t>
            </a:r>
            <a:r>
              <a:rPr lang="ko-KR" altLang="en-US" dirty="0"/>
              <a:t>에 따른 </a:t>
            </a:r>
            <a:r>
              <a:rPr lang="en-US" altLang="ko-KR" dirty="0"/>
              <a:t>loss</a:t>
            </a:r>
            <a:r>
              <a:rPr lang="ko-KR" altLang="en-US" dirty="0"/>
              <a:t>의 </a:t>
            </a:r>
            <a:r>
              <a:rPr lang="en-US" altLang="ko-KR" dirty="0"/>
              <a:t>noise</a:t>
            </a:r>
            <a:r>
              <a:rPr lang="ko-KR" altLang="en-US" dirty="0"/>
              <a:t>가 더 존재하는지 확인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나머지를 조작하지 않은 이유는</a:t>
            </a:r>
            <a:r>
              <a:rPr lang="en-US" altLang="ko-KR" dirty="0"/>
              <a:t>, </a:t>
            </a:r>
            <a:r>
              <a:rPr lang="ko-KR" altLang="en-US" dirty="0"/>
              <a:t>인과 관계를 파악하기 어렵기 때문이다</a:t>
            </a:r>
            <a:r>
              <a:rPr lang="en-US" altLang="ko-KR" dirty="0"/>
              <a:t>. (</a:t>
            </a:r>
            <a:r>
              <a:rPr lang="ko-KR" altLang="en-US" dirty="0"/>
              <a:t>예시 </a:t>
            </a:r>
            <a:r>
              <a:rPr lang="en-US" altLang="ko-KR" dirty="0"/>
              <a:t>: learning rate</a:t>
            </a:r>
            <a:r>
              <a:rPr lang="ko-KR" altLang="en-US" dirty="0"/>
              <a:t>를 올리거나 내린다고 해서 </a:t>
            </a:r>
            <a:r>
              <a:rPr lang="en-US" altLang="ko-KR" dirty="0"/>
              <a:t>model</a:t>
            </a:r>
            <a:r>
              <a:rPr lang="ko-KR" altLang="en-US" dirty="0"/>
              <a:t>의 성능이 바뀌어도</a:t>
            </a:r>
            <a:r>
              <a:rPr lang="en-US" altLang="ko-KR" dirty="0"/>
              <a:t>, </a:t>
            </a:r>
            <a:r>
              <a:rPr lang="ko-KR" altLang="en-US" dirty="0"/>
              <a:t>정확히 뭐 때문에 그런지 설명하기는 어렵다</a:t>
            </a:r>
            <a:r>
              <a:rPr lang="en-US" altLang="ko-KR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423712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9570F-37BE-7A3D-6AE8-A13CEBDC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Train models </a:t>
            </a:r>
            <a:r>
              <a:rPr lang="ko-KR" altLang="en-US" dirty="0"/>
              <a:t>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05F0A-07FF-AA6F-426C-937CFC8D9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</a:rPr>
              <a:t>보라색</a:t>
            </a:r>
            <a:r>
              <a:rPr lang="ko-KR" altLang="en-US" sz="2000" dirty="0"/>
              <a:t> </a:t>
            </a:r>
            <a:r>
              <a:rPr lang="en-US" altLang="ko-KR" sz="2000" dirty="0"/>
              <a:t>: momentum</a:t>
            </a:r>
            <a:r>
              <a:rPr lang="ko-KR" altLang="en-US" sz="2000" dirty="0"/>
              <a:t>을 </a:t>
            </a:r>
            <a:r>
              <a:rPr lang="en-US" altLang="ko-KR" sz="2000" dirty="0"/>
              <a:t>0.9</a:t>
            </a:r>
            <a:r>
              <a:rPr lang="ko-KR" altLang="en-US" sz="2000" dirty="0"/>
              <a:t>에서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제거한 </a:t>
            </a:r>
            <a:r>
              <a:rPr lang="en-US" altLang="ko-KR" sz="2000" dirty="0"/>
              <a:t>model</a:t>
            </a:r>
          </a:p>
          <a:p>
            <a:r>
              <a:rPr lang="ko-KR" altLang="en-US" sz="2000" dirty="0">
                <a:solidFill>
                  <a:srgbClr val="0070C0"/>
                </a:solidFill>
              </a:rPr>
              <a:t>파란색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 </a:t>
            </a:r>
            <a:r>
              <a:rPr lang="en-US" altLang="ko-KR" sz="2000" dirty="0"/>
              <a:t>model </a:t>
            </a:r>
          </a:p>
          <a:p>
            <a:r>
              <a:rPr lang="ko-KR" altLang="en-US" sz="2000" dirty="0">
                <a:solidFill>
                  <a:schemeClr val="accent6"/>
                </a:solidFill>
              </a:rPr>
              <a:t>초록색</a:t>
            </a:r>
            <a:r>
              <a:rPr lang="ko-KR" altLang="en-US" sz="2000" dirty="0"/>
              <a:t> </a:t>
            </a:r>
            <a:r>
              <a:rPr lang="en-US" altLang="ko-KR" sz="2000" dirty="0"/>
              <a:t>: batch size</a:t>
            </a:r>
            <a:r>
              <a:rPr lang="ko-KR" altLang="en-US" sz="2000" dirty="0"/>
              <a:t>를 </a:t>
            </a:r>
            <a:r>
              <a:rPr lang="en-US" altLang="ko-KR" sz="2000" dirty="0"/>
              <a:t>512</a:t>
            </a:r>
            <a:r>
              <a:rPr lang="ko-KR" altLang="en-US" sz="2000" dirty="0"/>
              <a:t>에서 </a:t>
            </a:r>
            <a:r>
              <a:rPr lang="en-US" altLang="ko-KR" sz="2000" dirty="0"/>
              <a:t>64</a:t>
            </a:r>
            <a:r>
              <a:rPr lang="ko-KR" altLang="en-US" sz="2000" dirty="0"/>
              <a:t>로 낮춘 </a:t>
            </a:r>
            <a:r>
              <a:rPr lang="en-US" altLang="ko-KR" sz="2000" dirty="0"/>
              <a:t>model</a:t>
            </a:r>
          </a:p>
          <a:p>
            <a:r>
              <a:rPr lang="ko-KR" altLang="en-US" sz="2000" dirty="0"/>
              <a:t>점선 </a:t>
            </a:r>
            <a:r>
              <a:rPr lang="en-US" altLang="ko-KR" sz="2000" dirty="0"/>
              <a:t>: validation, </a:t>
            </a:r>
            <a:r>
              <a:rPr lang="ko-KR" altLang="en-US" sz="2000" dirty="0"/>
              <a:t>실선 </a:t>
            </a:r>
            <a:r>
              <a:rPr lang="en-US" altLang="ko-KR" sz="2000" dirty="0"/>
              <a:t>: train</a:t>
            </a:r>
          </a:p>
          <a:p>
            <a:endParaRPr lang="en-US" altLang="ko-KR" sz="2000" dirty="0"/>
          </a:p>
          <a:p>
            <a:r>
              <a:rPr lang="ko-KR" altLang="en-US" sz="2000" dirty="0"/>
              <a:t>기대한 바 </a:t>
            </a:r>
            <a:r>
              <a:rPr lang="en-US" altLang="ko-KR" sz="2000" dirty="0"/>
              <a:t>: </a:t>
            </a:r>
            <a:r>
              <a:rPr lang="ko-KR" altLang="en-US" sz="2000" dirty="0"/>
              <a:t>보라색</a:t>
            </a:r>
            <a:r>
              <a:rPr lang="en-US" altLang="ko-KR" sz="2000" dirty="0"/>
              <a:t>, </a:t>
            </a:r>
            <a:r>
              <a:rPr lang="ko-KR" altLang="en-US" sz="2000" dirty="0"/>
              <a:t>초록색이 파란색 개형에 비해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Epoch</a:t>
            </a:r>
            <a:r>
              <a:rPr lang="ko-KR" altLang="en-US" sz="2000" dirty="0"/>
              <a:t>에 따른 </a:t>
            </a:r>
            <a:r>
              <a:rPr lang="en-US" altLang="ko-KR" sz="2000" dirty="0"/>
              <a:t>noise</a:t>
            </a:r>
            <a:r>
              <a:rPr lang="ko-KR" altLang="en-US" sz="2000" dirty="0"/>
              <a:t>가 클 것으로 기대 </a:t>
            </a:r>
            <a:endParaRPr lang="en-US" altLang="ko-KR" sz="2000" dirty="0"/>
          </a:p>
          <a:p>
            <a:r>
              <a:rPr lang="ko-KR" altLang="en-US" sz="2000" dirty="0"/>
              <a:t>결과 </a:t>
            </a:r>
            <a:r>
              <a:rPr lang="en-US" altLang="ko-KR" sz="2000" dirty="0"/>
              <a:t>: </a:t>
            </a:r>
            <a:r>
              <a:rPr lang="ko-KR" altLang="en-US" sz="2000" dirty="0"/>
              <a:t>전혀 그렇게 나오지 않았다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7A2A0C-0FAB-7FB2-4FA7-284191448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528" y="984389"/>
            <a:ext cx="4782120" cy="51925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531F46E-CE68-B847-17DF-172C15E580A9}"/>
              </a:ext>
            </a:extLst>
          </p:cNvPr>
          <p:cNvCxnSpPr/>
          <p:nvPr/>
        </p:nvCxnSpPr>
        <p:spPr>
          <a:xfrm>
            <a:off x="6746491" y="1353671"/>
            <a:ext cx="564777" cy="43927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217DB74-EA87-FD18-EE6C-6C5050E1D511}"/>
              </a:ext>
            </a:extLst>
          </p:cNvPr>
          <p:cNvCxnSpPr>
            <a:cxnSpLocks/>
          </p:cNvCxnSpPr>
          <p:nvPr/>
        </p:nvCxnSpPr>
        <p:spPr>
          <a:xfrm>
            <a:off x="3669633" y="1573306"/>
            <a:ext cx="3529026" cy="37203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C97BD57-E0F7-52BF-E677-FC546CDBCA75}"/>
              </a:ext>
            </a:extLst>
          </p:cNvPr>
          <p:cNvCxnSpPr>
            <a:cxnSpLocks/>
          </p:cNvCxnSpPr>
          <p:nvPr/>
        </p:nvCxnSpPr>
        <p:spPr>
          <a:xfrm>
            <a:off x="6451205" y="2116258"/>
            <a:ext cx="860063" cy="53729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450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40F62-18F3-45FF-155D-E53F3676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F09F8CB-ED46-FE2D-FC8B-F1AA6F52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106" y="1009957"/>
            <a:ext cx="4839927" cy="5208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12D192E-54ED-2EEC-F41E-C1C53A43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Train models </a:t>
            </a:r>
            <a:r>
              <a:rPr lang="ko-KR" altLang="en-US" dirty="0"/>
              <a:t>결과 분석 </a:t>
            </a:r>
            <a:r>
              <a:rPr lang="en-US" altLang="ko-KR" dirty="0"/>
              <a:t>1 (batch size </a:t>
            </a:r>
            <a:r>
              <a:rPr lang="ko-KR" altLang="en-US" dirty="0"/>
              <a:t>감소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E267F3-44C7-68D1-5D12-185533FD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4"/>
            <a:ext cx="10515600" cy="5806866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0070C0"/>
                </a:solidFill>
              </a:rPr>
              <a:t>파란색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 </a:t>
            </a:r>
            <a:r>
              <a:rPr lang="en-US" altLang="ko-KR" sz="2000" dirty="0"/>
              <a:t>model </a:t>
            </a:r>
          </a:p>
          <a:p>
            <a:r>
              <a:rPr lang="ko-KR" altLang="en-US" sz="2000" dirty="0">
                <a:solidFill>
                  <a:schemeClr val="accent6"/>
                </a:solidFill>
              </a:rPr>
              <a:t>초록색</a:t>
            </a:r>
            <a:r>
              <a:rPr lang="ko-KR" altLang="en-US" sz="2000" dirty="0"/>
              <a:t> </a:t>
            </a:r>
            <a:r>
              <a:rPr lang="en-US" altLang="ko-KR" sz="2000" dirty="0"/>
              <a:t>: batch size</a:t>
            </a:r>
            <a:r>
              <a:rPr lang="ko-KR" altLang="en-US" sz="2000" dirty="0"/>
              <a:t>를 </a:t>
            </a:r>
            <a:r>
              <a:rPr lang="en-US" altLang="ko-KR" sz="2000" dirty="0"/>
              <a:t>512</a:t>
            </a:r>
            <a:r>
              <a:rPr lang="ko-KR" altLang="en-US" sz="2000" dirty="0"/>
              <a:t>에서 </a:t>
            </a:r>
            <a:r>
              <a:rPr lang="en-US" altLang="ko-KR" sz="2000" dirty="0"/>
              <a:t>64</a:t>
            </a:r>
            <a:r>
              <a:rPr lang="ko-KR" altLang="en-US" sz="2000" dirty="0"/>
              <a:t>로 낮춘 </a:t>
            </a:r>
            <a:r>
              <a:rPr lang="en-US" altLang="ko-KR" sz="2000" dirty="0"/>
              <a:t>model</a:t>
            </a:r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분석 </a:t>
            </a:r>
            <a:r>
              <a:rPr lang="en-US" altLang="ko-KR" sz="2000" dirty="0"/>
              <a:t>1 (noise </a:t>
            </a:r>
            <a:r>
              <a:rPr lang="ko-KR" altLang="en-US" sz="2000" dirty="0"/>
              <a:t>유무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1600" dirty="0"/>
              <a:t>Batch size</a:t>
            </a:r>
            <a:r>
              <a:rPr lang="ko-KR" altLang="en-US" sz="1600" dirty="0"/>
              <a:t>가 작아지면 교수님 </a:t>
            </a:r>
            <a:r>
              <a:rPr lang="en-US" altLang="ko-KR" sz="1600" dirty="0"/>
              <a:t>ppt </a:t>
            </a:r>
            <a:r>
              <a:rPr lang="ko-KR" altLang="en-US" sz="1600" dirty="0"/>
              <a:t>자료에 나와 있는 것처럼</a:t>
            </a:r>
            <a:br>
              <a:rPr lang="en-US" altLang="ko-KR" sz="1600" dirty="0"/>
            </a:br>
            <a:r>
              <a:rPr lang="ko-KR" altLang="en-US" sz="1600" dirty="0"/>
              <a:t>더 적은 데이터로 </a:t>
            </a:r>
            <a:r>
              <a:rPr lang="en-US" altLang="ko-KR" sz="1600" dirty="0"/>
              <a:t>model</a:t>
            </a:r>
            <a:r>
              <a:rPr lang="ko-KR" altLang="en-US" sz="1600" dirty="0"/>
              <a:t>을 학습</a:t>
            </a:r>
            <a:r>
              <a:rPr lang="en-US" altLang="ko-KR" sz="1600" dirty="0"/>
              <a:t>, </a:t>
            </a:r>
            <a:r>
              <a:rPr lang="ko-KR" altLang="en-US" sz="1600" dirty="0"/>
              <a:t>어떻게 보면 일반화 하는 것</a:t>
            </a:r>
            <a:br>
              <a:rPr lang="en-US" altLang="ko-KR" sz="1600" dirty="0"/>
            </a:br>
            <a:r>
              <a:rPr lang="ko-KR" altLang="en-US" sz="1600" dirty="0"/>
              <a:t>이기 때문에 </a:t>
            </a:r>
            <a:r>
              <a:rPr lang="en-US" altLang="ko-KR" sz="1600" dirty="0"/>
              <a:t>batch</a:t>
            </a:r>
            <a:r>
              <a:rPr lang="ko-KR" altLang="en-US" sz="1600" dirty="0"/>
              <a:t>가 달라질 때마다 </a:t>
            </a:r>
            <a:r>
              <a:rPr lang="en-US" altLang="ko-KR" sz="1600" dirty="0"/>
              <a:t>noise</a:t>
            </a:r>
            <a:r>
              <a:rPr lang="ko-KR" altLang="en-US" sz="1600" dirty="0"/>
              <a:t>가 엄청 심해서 </a:t>
            </a:r>
            <a:br>
              <a:rPr lang="en-US" altLang="ko-KR" sz="1600" dirty="0"/>
            </a:br>
            <a:r>
              <a:rPr lang="en-US" altLang="ko-KR" sz="1600" dirty="0"/>
              <a:t>epoch</a:t>
            </a:r>
            <a:r>
              <a:rPr lang="ko-KR" altLang="en-US" sz="1600" dirty="0"/>
              <a:t>에 따른 </a:t>
            </a:r>
            <a:r>
              <a:rPr lang="en-US" altLang="ko-KR" sz="1600" dirty="0"/>
              <a:t>loss</a:t>
            </a:r>
            <a:r>
              <a:rPr lang="ko-KR" altLang="en-US" sz="1600" dirty="0"/>
              <a:t>함수도 </a:t>
            </a:r>
            <a:r>
              <a:rPr lang="en-US" altLang="ko-KR" sz="1600" dirty="0"/>
              <a:t>noise</a:t>
            </a:r>
            <a:r>
              <a:rPr lang="ko-KR" altLang="en-US" sz="1600" dirty="0"/>
              <a:t>가 심하게 나타날 것으로 </a:t>
            </a:r>
            <a:br>
              <a:rPr lang="en-US" altLang="ko-KR" sz="1600" dirty="0"/>
            </a:br>
            <a:r>
              <a:rPr lang="ko-KR" altLang="en-US" sz="1600" dirty="0"/>
              <a:t>예상했다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하지만 결과를 보면</a:t>
            </a:r>
            <a:r>
              <a:rPr lang="en-US" altLang="ko-KR" sz="1600" dirty="0"/>
              <a:t>, </a:t>
            </a:r>
            <a:r>
              <a:rPr lang="ko-KR" altLang="en-US" sz="1600" dirty="0"/>
              <a:t>모든 </a:t>
            </a:r>
            <a:r>
              <a:rPr lang="en-US" altLang="ko-KR" sz="1600" dirty="0"/>
              <a:t>batch</a:t>
            </a:r>
            <a:r>
              <a:rPr lang="ko-KR" altLang="en-US" sz="1600" dirty="0"/>
              <a:t>에서 일어나는 </a:t>
            </a:r>
            <a:r>
              <a:rPr lang="en-US" altLang="ko-KR" sz="1600" dirty="0"/>
              <a:t>loss</a:t>
            </a:r>
            <a:r>
              <a:rPr lang="ko-KR" altLang="en-US" sz="1600" dirty="0"/>
              <a:t>에 평균을 </a:t>
            </a:r>
            <a:br>
              <a:rPr lang="en-US" altLang="ko-KR" sz="1600" dirty="0"/>
            </a:br>
            <a:r>
              <a:rPr lang="ko-KR" altLang="en-US" sz="1600" dirty="0"/>
              <a:t>취해서 그런지 </a:t>
            </a:r>
            <a:r>
              <a:rPr lang="en-US" altLang="ko-KR" sz="1600" dirty="0"/>
              <a:t>batch size</a:t>
            </a:r>
            <a:r>
              <a:rPr lang="ko-KR" altLang="en-US" sz="1600" dirty="0"/>
              <a:t>를 </a:t>
            </a:r>
            <a:r>
              <a:rPr lang="en-US" altLang="ko-KR" sz="1600" dirty="0"/>
              <a:t>1/8</a:t>
            </a:r>
            <a:r>
              <a:rPr lang="ko-KR" altLang="en-US" sz="1600" dirty="0"/>
              <a:t>로 낮춘 </a:t>
            </a:r>
            <a:r>
              <a:rPr lang="en-US" altLang="ko-KR" sz="1600" dirty="0"/>
              <a:t>model</a:t>
            </a:r>
            <a:r>
              <a:rPr lang="ko-KR" altLang="en-US" sz="1600" dirty="0"/>
              <a:t>에서 </a:t>
            </a:r>
            <a:r>
              <a:rPr lang="en-US" altLang="ko-KR" sz="1600" dirty="0">
                <a:solidFill>
                  <a:srgbClr val="FF0000"/>
                </a:solidFill>
              </a:rPr>
              <a:t>noise</a:t>
            </a:r>
            <a:r>
              <a:rPr lang="ko-KR" altLang="en-US" sz="1600" dirty="0">
                <a:solidFill>
                  <a:srgbClr val="FF0000"/>
                </a:solidFill>
              </a:rPr>
              <a:t>가 </a:t>
            </a:r>
            <a:br>
              <a:rPr lang="en-US" altLang="ko-KR" sz="1600" dirty="0">
                <a:solidFill>
                  <a:srgbClr val="FF0000"/>
                </a:solidFill>
              </a:rPr>
            </a:br>
            <a:r>
              <a:rPr lang="ko-KR" altLang="en-US" sz="1600" dirty="0">
                <a:solidFill>
                  <a:srgbClr val="FF0000"/>
                </a:solidFill>
              </a:rPr>
              <a:t>더 심하게 나타나는 것처럼 보이지 않았다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2000" dirty="0"/>
              <a:t>분석 </a:t>
            </a:r>
            <a:r>
              <a:rPr lang="en-US" altLang="ko-KR" sz="2000" dirty="0"/>
              <a:t>2 (loss)</a:t>
            </a:r>
          </a:p>
          <a:p>
            <a:pPr lvl="1"/>
            <a:r>
              <a:rPr lang="en-US" altLang="ko-KR" sz="1600" dirty="0"/>
              <a:t>Batch size</a:t>
            </a:r>
            <a:r>
              <a:rPr lang="ko-KR" altLang="en-US" sz="1600" dirty="0"/>
              <a:t>를 줄이면</a:t>
            </a:r>
            <a:r>
              <a:rPr lang="en-US" altLang="ko-KR" sz="1600" dirty="0"/>
              <a:t>, </a:t>
            </a:r>
            <a:r>
              <a:rPr lang="ko-KR" altLang="en-US" sz="1600" dirty="0"/>
              <a:t>특정 데이터에 </a:t>
            </a:r>
            <a:r>
              <a:rPr lang="ko-KR" altLang="en-US" sz="1600" dirty="0" err="1"/>
              <a:t>취중해</a:t>
            </a:r>
            <a:r>
              <a:rPr lang="ko-KR" altLang="en-US" sz="1600" dirty="0"/>
              <a:t> 모델을 학습하지</a:t>
            </a:r>
            <a:br>
              <a:rPr lang="en-US" altLang="ko-KR" sz="1600" dirty="0"/>
            </a:br>
            <a:r>
              <a:rPr lang="ko-KR" altLang="en-US" sz="1600" dirty="0"/>
              <a:t>않아서 </a:t>
            </a:r>
            <a:r>
              <a:rPr lang="en-US" altLang="ko-KR" sz="1600" dirty="0"/>
              <a:t>overfitting</a:t>
            </a:r>
            <a:r>
              <a:rPr lang="ko-KR" altLang="en-US" sz="1600" dirty="0"/>
              <a:t>을 막아줄 것으로 예상했다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하지만</a:t>
            </a:r>
            <a:r>
              <a:rPr lang="en-US" altLang="ko-KR" sz="1600" dirty="0"/>
              <a:t>, loss/</a:t>
            </a:r>
            <a:r>
              <a:rPr lang="en-US" altLang="ko-KR" sz="1600" dirty="0" err="1"/>
              <a:t>val</a:t>
            </a:r>
            <a:r>
              <a:rPr lang="ko-KR" altLang="en-US" sz="1600" dirty="0"/>
              <a:t>이 </a:t>
            </a:r>
            <a:r>
              <a:rPr lang="en-US" altLang="ko-KR" sz="1600" dirty="0"/>
              <a:t>epoch 15 </a:t>
            </a:r>
            <a:r>
              <a:rPr lang="ko-KR" altLang="en-US" sz="1600" dirty="0"/>
              <a:t>부근에서 증가하는 것을 보면 </a:t>
            </a:r>
            <a:br>
              <a:rPr lang="en-US" altLang="ko-KR" sz="1600" dirty="0"/>
            </a:br>
            <a:r>
              <a:rPr lang="en-US" altLang="ko-KR" sz="1600" dirty="0">
                <a:solidFill>
                  <a:srgbClr val="FF0000"/>
                </a:solidFill>
              </a:rPr>
              <a:t>overfitting</a:t>
            </a:r>
            <a:r>
              <a:rPr lang="ko-KR" altLang="en-US" sz="1600" dirty="0">
                <a:solidFill>
                  <a:srgbClr val="FF0000"/>
                </a:solidFill>
              </a:rPr>
              <a:t>이 오히려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생긴 것으로 볼 수 있다</a:t>
            </a:r>
            <a:r>
              <a:rPr lang="en-US" altLang="ko-KR" sz="1600" dirty="0">
                <a:solidFill>
                  <a:srgbClr val="FF0000"/>
                </a:solidFill>
              </a:rPr>
              <a:t>. </a:t>
            </a:r>
            <a:r>
              <a:rPr lang="ko-KR" altLang="en-US" sz="1600" dirty="0"/>
              <a:t>이는 </a:t>
            </a:r>
            <a:r>
              <a:rPr lang="en-US" altLang="ko-KR" sz="1600" dirty="0"/>
              <a:t>batch </a:t>
            </a:r>
            <a:br>
              <a:rPr lang="en-US" altLang="ko-KR" sz="1600" dirty="0"/>
            </a:br>
            <a:r>
              <a:rPr lang="en-US" altLang="ko-KR" sz="1600" dirty="0"/>
              <a:t>size</a:t>
            </a:r>
            <a:r>
              <a:rPr lang="ko-KR" altLang="en-US" sz="1600" dirty="0"/>
              <a:t>가 작아지며</a:t>
            </a:r>
            <a:r>
              <a:rPr lang="en-US" altLang="ko-KR" sz="1600" dirty="0"/>
              <a:t> </a:t>
            </a:r>
            <a:r>
              <a:rPr lang="ko-KR" altLang="en-US" sz="1600" dirty="0"/>
              <a:t>학습 횟수가 증가한 결과로 보인다</a:t>
            </a:r>
            <a:r>
              <a:rPr lang="en-US" altLang="ko-KR" sz="1600" dirty="0"/>
              <a:t>. </a:t>
            </a:r>
            <a:r>
              <a:rPr lang="ko-KR" altLang="en-US" sz="1600" dirty="0"/>
              <a:t>따라서 </a:t>
            </a:r>
            <a:br>
              <a:rPr lang="en-US" altLang="ko-KR" sz="1600" dirty="0"/>
            </a:br>
            <a:r>
              <a:rPr lang="ko-KR" altLang="en-US" sz="1600" dirty="0"/>
              <a:t>이 결과로 </a:t>
            </a:r>
            <a:r>
              <a:rPr lang="en-US" altLang="ko-KR" sz="1600" dirty="0"/>
              <a:t>loss/train</a:t>
            </a:r>
            <a:r>
              <a:rPr lang="ko-KR" altLang="en-US" sz="1600" dirty="0"/>
              <a:t>이 기본 </a:t>
            </a:r>
            <a:r>
              <a:rPr lang="en-US" altLang="ko-KR" sz="1600" dirty="0"/>
              <a:t>model</a:t>
            </a:r>
            <a:r>
              <a:rPr lang="ko-KR" altLang="en-US" sz="1600" dirty="0"/>
              <a:t>보다 작아진 것 같다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endParaRPr lang="en-US" altLang="ko-KR" sz="1600" dirty="0"/>
          </a:p>
          <a:p>
            <a:pPr lvl="1"/>
            <a:endParaRPr lang="en-US" altLang="ko-KR" sz="16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8BC58A0-3FC4-AF3B-5CB4-3379BA64A7D6}"/>
              </a:ext>
            </a:extLst>
          </p:cNvPr>
          <p:cNvCxnSpPr>
            <a:cxnSpLocks/>
          </p:cNvCxnSpPr>
          <p:nvPr/>
        </p:nvCxnSpPr>
        <p:spPr>
          <a:xfrm>
            <a:off x="3769619" y="1136886"/>
            <a:ext cx="3529026" cy="44681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AC8533B-90A3-0DB9-7E5C-8ED476614A7A}"/>
              </a:ext>
            </a:extLst>
          </p:cNvPr>
          <p:cNvCxnSpPr>
            <a:cxnSpLocks/>
          </p:cNvCxnSpPr>
          <p:nvPr/>
        </p:nvCxnSpPr>
        <p:spPr>
          <a:xfrm>
            <a:off x="6250597" y="1770589"/>
            <a:ext cx="1048048" cy="6498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C12BF69-4D68-6DBC-CB8D-29FD52E69878}"/>
              </a:ext>
            </a:extLst>
          </p:cNvPr>
          <p:cNvCxnSpPr>
            <a:cxnSpLocks/>
          </p:cNvCxnSpPr>
          <p:nvPr/>
        </p:nvCxnSpPr>
        <p:spPr>
          <a:xfrm flipV="1">
            <a:off x="5560291" y="3827929"/>
            <a:ext cx="3491822" cy="1603053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69D221D-353A-8676-9F56-6BA10EAD58F8}"/>
              </a:ext>
            </a:extLst>
          </p:cNvPr>
          <p:cNvSpPr txBox="1"/>
          <p:nvPr/>
        </p:nvSpPr>
        <p:spPr>
          <a:xfrm>
            <a:off x="8617015" y="3891814"/>
            <a:ext cx="1352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loss/</a:t>
            </a:r>
            <a:r>
              <a:rPr lang="en-US" altLang="ko-KR" sz="1400" b="1" dirty="0" err="1"/>
              <a:t>val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증가</a:t>
            </a:r>
          </a:p>
        </p:txBody>
      </p:sp>
    </p:spTree>
    <p:extLst>
      <p:ext uri="{BB962C8B-B14F-4D97-AF65-F5344CB8AC3E}">
        <p14:creationId xmlns:p14="http://schemas.microsoft.com/office/powerpoint/2010/main" val="2435254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5DFB-DD1C-9CBF-AE6E-77E00FD4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DA495AC-A72C-FC84-9596-C965973E4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196" y="1353671"/>
            <a:ext cx="4558456" cy="49014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8BD0AE-EAE0-71CD-8628-87CFC3DB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Train models </a:t>
            </a:r>
            <a:r>
              <a:rPr lang="ko-KR" altLang="en-US" dirty="0"/>
              <a:t>결과 분석 </a:t>
            </a:r>
            <a:r>
              <a:rPr lang="en-US" altLang="ko-KR" dirty="0"/>
              <a:t>2 (momentum </a:t>
            </a:r>
            <a:r>
              <a:rPr lang="ko-KR" altLang="en-US" dirty="0"/>
              <a:t>제거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C71F99-E48C-E4CA-742B-F4F3EBA40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</a:rPr>
              <a:t>보라색</a:t>
            </a:r>
            <a:r>
              <a:rPr lang="ko-KR" altLang="en-US" sz="2000" dirty="0"/>
              <a:t> </a:t>
            </a:r>
            <a:r>
              <a:rPr lang="en-US" altLang="ko-KR" sz="2000" dirty="0"/>
              <a:t>: momentum</a:t>
            </a:r>
            <a:r>
              <a:rPr lang="ko-KR" altLang="en-US" sz="2000" dirty="0"/>
              <a:t>을 </a:t>
            </a:r>
            <a:r>
              <a:rPr lang="en-US" altLang="ko-KR" sz="2000" dirty="0"/>
              <a:t>0.9</a:t>
            </a:r>
            <a:r>
              <a:rPr lang="ko-KR" altLang="en-US" sz="2000" dirty="0"/>
              <a:t>에서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제거한 </a:t>
            </a:r>
            <a:r>
              <a:rPr lang="en-US" altLang="ko-KR" sz="2000" dirty="0"/>
              <a:t>model</a:t>
            </a:r>
          </a:p>
          <a:p>
            <a:r>
              <a:rPr lang="ko-KR" altLang="en-US" sz="2000" dirty="0">
                <a:solidFill>
                  <a:srgbClr val="0070C0"/>
                </a:solidFill>
              </a:rPr>
              <a:t>파란색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 </a:t>
            </a:r>
            <a:r>
              <a:rPr lang="en-US" altLang="ko-KR" sz="2000" dirty="0"/>
              <a:t>model </a:t>
            </a:r>
          </a:p>
          <a:p>
            <a:endParaRPr lang="en-US" altLang="ko-KR" sz="2000" dirty="0"/>
          </a:p>
          <a:p>
            <a:r>
              <a:rPr lang="ko-KR" altLang="en-US" sz="2000" dirty="0"/>
              <a:t>분석 </a:t>
            </a:r>
            <a:r>
              <a:rPr lang="en-US" altLang="ko-KR" sz="2000" dirty="0"/>
              <a:t>1 (noise </a:t>
            </a:r>
            <a:r>
              <a:rPr lang="ko-KR" altLang="en-US" sz="2000" dirty="0"/>
              <a:t>유무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1600" dirty="0"/>
              <a:t>Momentum</a:t>
            </a:r>
            <a:r>
              <a:rPr lang="ko-KR" altLang="en-US" sz="1600" dirty="0"/>
              <a:t>을 없애면 교수님 </a:t>
            </a:r>
            <a:r>
              <a:rPr lang="en-US" altLang="ko-KR" sz="1600" dirty="0"/>
              <a:t>ppt </a:t>
            </a:r>
            <a:r>
              <a:rPr lang="ko-KR" altLang="en-US" sz="1600" dirty="0"/>
              <a:t>자료에 나와 있는 것처럼</a:t>
            </a:r>
            <a:br>
              <a:rPr lang="en-US" altLang="ko-KR" sz="1600" dirty="0"/>
            </a:br>
            <a:r>
              <a:rPr lang="ko-KR" altLang="en-US" sz="1600" dirty="0"/>
              <a:t>관성이 없이 나아가기 때문에 </a:t>
            </a:r>
            <a:r>
              <a:rPr lang="en-US" altLang="ko-KR" sz="1600" dirty="0"/>
              <a:t>epoch</a:t>
            </a:r>
            <a:r>
              <a:rPr lang="ko-KR" altLang="en-US" sz="1600" dirty="0"/>
              <a:t>에 따른 </a:t>
            </a:r>
            <a:r>
              <a:rPr lang="en-US" altLang="ko-KR" sz="1600" dirty="0"/>
              <a:t>noise</a:t>
            </a:r>
            <a:r>
              <a:rPr lang="ko-KR" altLang="en-US" sz="1600" dirty="0"/>
              <a:t>가 더 </a:t>
            </a:r>
            <a:br>
              <a:rPr lang="en-US" altLang="ko-KR" sz="1600" dirty="0"/>
            </a:br>
            <a:r>
              <a:rPr lang="ko-KR" altLang="en-US" sz="1600" dirty="0"/>
              <a:t>생길 것으로 예상했다</a:t>
            </a:r>
            <a:endParaRPr lang="en-US" altLang="ko-KR" sz="1600" dirty="0"/>
          </a:p>
          <a:p>
            <a:pPr lvl="1"/>
            <a:r>
              <a:rPr lang="ko-KR" altLang="en-US" sz="1600" dirty="0"/>
              <a:t>하지만 </a:t>
            </a:r>
            <a:r>
              <a:rPr lang="en-US" altLang="ko-KR" sz="1600" dirty="0"/>
              <a:t>parameter</a:t>
            </a:r>
            <a:r>
              <a:rPr lang="ko-KR" altLang="en-US" sz="1600" dirty="0"/>
              <a:t>에 따른 </a:t>
            </a:r>
            <a:r>
              <a:rPr lang="en-US" altLang="ko-KR" sz="1600" dirty="0"/>
              <a:t>loss </a:t>
            </a:r>
            <a:r>
              <a:rPr lang="ko-KR" altLang="en-US" sz="1600" dirty="0"/>
              <a:t>함수가 </a:t>
            </a:r>
            <a:r>
              <a:rPr lang="en-US" altLang="ko-KR" sz="1600" dirty="0"/>
              <a:t>smooth</a:t>
            </a:r>
            <a:r>
              <a:rPr lang="ko-KR" altLang="en-US" sz="1600" dirty="0"/>
              <a:t>해서 그런지</a:t>
            </a:r>
            <a:br>
              <a:rPr lang="en-US" altLang="ko-KR" sz="1600" dirty="0"/>
            </a:br>
            <a:r>
              <a:rPr lang="en-US" altLang="ko-KR" sz="1600" dirty="0">
                <a:solidFill>
                  <a:srgbClr val="FF0000"/>
                </a:solidFill>
              </a:rPr>
              <a:t>momentum</a:t>
            </a:r>
            <a:r>
              <a:rPr lang="ko-KR" altLang="en-US" sz="1600" dirty="0">
                <a:solidFill>
                  <a:srgbClr val="FF0000"/>
                </a:solidFill>
              </a:rPr>
              <a:t>을 제거했는데 </a:t>
            </a:r>
            <a:r>
              <a:rPr lang="en-US" altLang="ko-KR" sz="1600" dirty="0">
                <a:solidFill>
                  <a:srgbClr val="FF0000"/>
                </a:solidFill>
              </a:rPr>
              <a:t>noise</a:t>
            </a:r>
            <a:r>
              <a:rPr lang="ko-KR" altLang="en-US" sz="1600" dirty="0">
                <a:solidFill>
                  <a:srgbClr val="FF0000"/>
                </a:solidFill>
              </a:rPr>
              <a:t>가 발견되지는 않았다</a:t>
            </a:r>
            <a:r>
              <a:rPr lang="en-US" altLang="ko-KR" sz="1600" dirty="0"/>
              <a:t>.</a:t>
            </a:r>
          </a:p>
          <a:p>
            <a:r>
              <a:rPr lang="ko-KR" altLang="en-US" sz="2000" dirty="0"/>
              <a:t>분석 </a:t>
            </a:r>
            <a:r>
              <a:rPr lang="en-US" altLang="ko-KR" sz="2000" dirty="0"/>
              <a:t>2 (loss)</a:t>
            </a:r>
          </a:p>
          <a:p>
            <a:pPr lvl="1"/>
            <a:r>
              <a:rPr lang="en-US" altLang="ko-KR" sz="1600" dirty="0"/>
              <a:t>Momentum</a:t>
            </a:r>
            <a:r>
              <a:rPr lang="ko-KR" altLang="en-US" sz="1600" dirty="0"/>
              <a:t>을 가지는 </a:t>
            </a:r>
            <a:r>
              <a:rPr lang="en-US" altLang="ko-KR" sz="1600" dirty="0"/>
              <a:t>optimizer</a:t>
            </a:r>
            <a:r>
              <a:rPr lang="ko-KR" altLang="en-US" sz="1600" dirty="0"/>
              <a:t>가 일반적으로 성능이</a:t>
            </a:r>
            <a:br>
              <a:rPr lang="en-US" altLang="ko-KR" sz="1600" dirty="0"/>
            </a:br>
            <a:r>
              <a:rPr lang="ko-KR" altLang="en-US" sz="1600" dirty="0"/>
              <a:t>좋다고 잘 알려져 있기 때문에 이번 과제에서는 </a:t>
            </a:r>
            <a:r>
              <a:rPr lang="en-US" altLang="ko-KR" sz="1600" dirty="0"/>
              <a:t>momentum</a:t>
            </a:r>
            <a:br>
              <a:rPr lang="en-US" altLang="ko-KR" sz="1600" dirty="0"/>
            </a:br>
            <a:r>
              <a:rPr lang="ko-KR" altLang="en-US" sz="1600" dirty="0"/>
              <a:t>이 있는 모델이 </a:t>
            </a:r>
            <a:r>
              <a:rPr lang="en-US" altLang="ko-KR" sz="1600" dirty="0"/>
              <a:t>loss</a:t>
            </a:r>
            <a:r>
              <a:rPr lang="ko-KR" altLang="en-US" sz="1600" dirty="0"/>
              <a:t>가 더 작게 나온 것 같다</a:t>
            </a:r>
            <a:r>
              <a:rPr lang="en-US" altLang="ko-KR" sz="1600" dirty="0"/>
              <a:t>.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C7FA4CD-B7F6-291A-3C24-13B790028B1A}"/>
              </a:ext>
            </a:extLst>
          </p:cNvPr>
          <p:cNvCxnSpPr>
            <a:cxnSpLocks/>
          </p:cNvCxnSpPr>
          <p:nvPr/>
        </p:nvCxnSpPr>
        <p:spPr>
          <a:xfrm>
            <a:off x="6746491" y="1353671"/>
            <a:ext cx="918333" cy="63649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DD7EA37-0288-2672-9FBA-35BD8CC5A2C5}"/>
              </a:ext>
            </a:extLst>
          </p:cNvPr>
          <p:cNvCxnSpPr>
            <a:cxnSpLocks/>
          </p:cNvCxnSpPr>
          <p:nvPr/>
        </p:nvCxnSpPr>
        <p:spPr>
          <a:xfrm>
            <a:off x="3669633" y="1573306"/>
            <a:ext cx="3995191" cy="86509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654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F01A9-6D8B-3C0C-BA32-67F2AC9E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Train models </a:t>
            </a:r>
            <a:r>
              <a:rPr lang="ko-KR" altLang="en-US" dirty="0"/>
              <a:t>결과 분석 </a:t>
            </a:r>
            <a:r>
              <a:rPr lang="en-US" altLang="ko-KR" dirty="0"/>
              <a:t>3 (accuracy)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ED4653-02A2-5742-4680-B5728F983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4545"/>
            <a:ext cx="10515600" cy="161448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loss/</a:t>
            </a:r>
            <a:r>
              <a:rPr lang="en-US" altLang="ko-KR" sz="2000" dirty="0" err="1"/>
              <a:t>val</a:t>
            </a:r>
            <a:r>
              <a:rPr lang="ko-KR" altLang="en-US" sz="2000" dirty="0"/>
              <a:t>이 증가하면 당연히 </a:t>
            </a:r>
            <a:r>
              <a:rPr lang="en-US" altLang="ko-KR" sz="2000" dirty="0"/>
              <a:t>accuracy/</a:t>
            </a:r>
            <a:r>
              <a:rPr lang="en-US" altLang="ko-KR" sz="2000" dirty="0" err="1"/>
              <a:t>val</a:t>
            </a:r>
            <a:r>
              <a:rPr lang="ko-KR" altLang="en-US" sz="2000" dirty="0"/>
              <a:t>가 감소할 것이라 생각했다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그런데</a:t>
            </a:r>
            <a:r>
              <a:rPr lang="en-US" altLang="ko-KR" sz="2000" dirty="0"/>
              <a:t>, epoch 20 </a:t>
            </a:r>
            <a:r>
              <a:rPr lang="ko-KR" altLang="en-US" sz="2000" dirty="0"/>
              <a:t>부근에 초록색 </a:t>
            </a:r>
            <a:r>
              <a:rPr lang="en-US" altLang="ko-KR" sz="2000" dirty="0"/>
              <a:t>model</a:t>
            </a:r>
            <a:r>
              <a:rPr lang="ko-KR" altLang="en-US" sz="2000" dirty="0"/>
              <a:t>을 보면</a:t>
            </a:r>
            <a:r>
              <a:rPr lang="en-US" altLang="ko-KR" sz="2000" dirty="0"/>
              <a:t>, loss/</a:t>
            </a:r>
            <a:r>
              <a:rPr lang="en-US" altLang="ko-KR" sz="2000" dirty="0" err="1"/>
              <a:t>val</a:t>
            </a:r>
            <a:r>
              <a:rPr lang="ko-KR" altLang="en-US" sz="2000" dirty="0"/>
              <a:t>이 증가하는데</a:t>
            </a:r>
            <a:r>
              <a:rPr lang="en-US" altLang="ko-KR" sz="2000" dirty="0"/>
              <a:t>, accuracy/</a:t>
            </a:r>
            <a:r>
              <a:rPr lang="en-US" altLang="ko-KR" sz="2000" dirty="0" err="1"/>
              <a:t>val</a:t>
            </a:r>
            <a:r>
              <a:rPr lang="ko-KR" altLang="en-US" sz="2000" dirty="0"/>
              <a:t>도 같이 증가한다</a:t>
            </a:r>
            <a:r>
              <a:rPr lang="en-US" altLang="ko-KR" sz="2000" dirty="0"/>
              <a:t>. </a:t>
            </a:r>
            <a:r>
              <a:rPr lang="ko-KR" altLang="en-US" sz="2000" dirty="0"/>
              <a:t>교수님 과제 </a:t>
            </a:r>
            <a:r>
              <a:rPr lang="en-US" altLang="ko-KR" sz="2000" dirty="0"/>
              <a:t>ppt</a:t>
            </a:r>
            <a:r>
              <a:rPr lang="ko-KR" altLang="en-US" sz="2000" dirty="0"/>
              <a:t> </a:t>
            </a:r>
            <a:r>
              <a:rPr lang="en-US" altLang="ko-KR" sz="2000" dirty="0"/>
              <a:t>18p.</a:t>
            </a:r>
            <a:r>
              <a:rPr lang="ko-KR" altLang="en-US" sz="2000" dirty="0"/>
              <a:t> 에서도 동일한 양상이 있는 것으로 보아 </a:t>
            </a:r>
            <a:r>
              <a:rPr lang="en-US" altLang="ko-KR" sz="2000" dirty="0"/>
              <a:t>accuracy, loss</a:t>
            </a:r>
            <a:r>
              <a:rPr lang="ko-KR" altLang="en-US" sz="2000" dirty="0"/>
              <a:t>의 증가 양상이 항상 반대로 동작하는 것은 아닌 것 같다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1ACD31-5B50-927A-8BF2-49B1CAE1F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459" y="1059511"/>
            <a:ext cx="9377082" cy="3834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6422C3BA-4149-1F01-885C-708BF21DED8A}"/>
              </a:ext>
            </a:extLst>
          </p:cNvPr>
          <p:cNvSpPr/>
          <p:nvPr/>
        </p:nvSpPr>
        <p:spPr>
          <a:xfrm>
            <a:off x="8139954" y="2844890"/>
            <a:ext cx="851647" cy="4347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951F425-B0ED-A2AB-64EB-6C87F5DD108E}"/>
              </a:ext>
            </a:extLst>
          </p:cNvPr>
          <p:cNvSpPr/>
          <p:nvPr/>
        </p:nvSpPr>
        <p:spPr>
          <a:xfrm>
            <a:off x="3406588" y="1476849"/>
            <a:ext cx="851647" cy="4347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78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7569-1A23-7B68-160F-D2500A6D8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D0434-8295-FE24-6BAA-5E90AB1A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Modify </a:t>
            </a:r>
            <a:r>
              <a:rPr lang="en-US" altLang="ko-KR" dirty="0" err="1"/>
              <a:t>AlexNet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47CD55-879C-0E59-075C-F94CAFFBD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AlexNet</a:t>
            </a:r>
            <a:r>
              <a:rPr lang="ko-KR" altLang="en-US" dirty="0"/>
              <a:t>의 구조를 바꾸라 하셨는데</a:t>
            </a:r>
            <a:r>
              <a:rPr lang="en-US" altLang="ko-KR" dirty="0"/>
              <a:t>, </a:t>
            </a:r>
            <a:r>
              <a:rPr lang="ko-KR" altLang="en-US" dirty="0"/>
              <a:t>사실 </a:t>
            </a:r>
            <a:r>
              <a:rPr lang="en-US" altLang="ko-KR" dirty="0" err="1"/>
              <a:t>AlexNet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구조를 보면</a:t>
            </a:r>
            <a:r>
              <a:rPr lang="en-US" altLang="ko-KR" dirty="0"/>
              <a:t>, </a:t>
            </a:r>
            <a:r>
              <a:rPr lang="ko-KR" altLang="en-US" dirty="0"/>
              <a:t>맨 마지막에 </a:t>
            </a:r>
            <a:r>
              <a:rPr lang="en-US" altLang="ko-KR" dirty="0"/>
              <a:t>class </a:t>
            </a:r>
            <a:r>
              <a:rPr lang="ko-KR" altLang="en-US" dirty="0"/>
              <a:t>수만 </a:t>
            </a:r>
            <a:r>
              <a:rPr lang="en-US" altLang="ko-KR" dirty="0"/>
              <a:t>label class</a:t>
            </a:r>
            <a:r>
              <a:rPr lang="ko-KR" altLang="en-US" dirty="0"/>
              <a:t>에 </a:t>
            </a:r>
            <a:br>
              <a:rPr lang="en-US" altLang="ko-KR" dirty="0"/>
            </a:br>
            <a:r>
              <a:rPr lang="ko-KR" altLang="en-US" dirty="0"/>
              <a:t>맞도록 설정하면</a:t>
            </a:r>
            <a:r>
              <a:rPr lang="en-US" altLang="ko-KR" dirty="0"/>
              <a:t>, </a:t>
            </a:r>
            <a:r>
              <a:rPr lang="ko-KR" altLang="en-US" dirty="0"/>
              <a:t>잘 돌아간다</a:t>
            </a:r>
            <a:r>
              <a:rPr lang="en-US" altLang="ko-KR" dirty="0"/>
              <a:t>. (</a:t>
            </a:r>
            <a:r>
              <a:rPr lang="ko-KR" altLang="en-US" dirty="0"/>
              <a:t>모델이 학습된다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그렇기 때문에 </a:t>
            </a:r>
            <a:r>
              <a:rPr lang="en-US" altLang="ko-KR" dirty="0"/>
              <a:t>model</a:t>
            </a:r>
            <a:r>
              <a:rPr lang="ko-KR" altLang="en-US" dirty="0"/>
              <a:t>을 학습만 하는 것을 목적으로 하지 않고</a:t>
            </a:r>
            <a:r>
              <a:rPr lang="en-US" altLang="ko-KR" dirty="0"/>
              <a:t>, </a:t>
            </a:r>
            <a:r>
              <a:rPr lang="ko-KR" altLang="en-US" dirty="0"/>
              <a:t>더 좋은 </a:t>
            </a:r>
            <a:r>
              <a:rPr lang="en-US" altLang="ko-KR" dirty="0"/>
              <a:t>model</a:t>
            </a:r>
            <a:r>
              <a:rPr lang="ko-KR" altLang="en-US" dirty="0"/>
              <a:t>을 만들기 위해 </a:t>
            </a:r>
            <a:r>
              <a:rPr lang="en-US" altLang="ko-KR" dirty="0"/>
              <a:t>feature extractor </a:t>
            </a:r>
            <a:r>
              <a:rPr lang="ko-KR" altLang="en-US" dirty="0"/>
              <a:t>부분을 수정할 것이다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feature extractor </a:t>
            </a:r>
            <a:r>
              <a:rPr lang="ko-KR" altLang="en-US" dirty="0"/>
              <a:t>부분을 수정하기 위해 먼저 대상이 되는 데이터를 분석한다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567C92-6D76-81B7-5209-605931E5E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438" y="539497"/>
            <a:ext cx="3181479" cy="35340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C6A129E-C0EF-8672-C380-9CCFB3E69085}"/>
              </a:ext>
            </a:extLst>
          </p:cNvPr>
          <p:cNvSpPr/>
          <p:nvPr/>
        </p:nvSpPr>
        <p:spPr>
          <a:xfrm>
            <a:off x="9863970" y="3173505"/>
            <a:ext cx="544054" cy="134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AD010E1-458C-938E-6108-282C84FC7FC8}"/>
              </a:ext>
            </a:extLst>
          </p:cNvPr>
          <p:cNvCxnSpPr>
            <a:cxnSpLocks/>
          </p:cNvCxnSpPr>
          <p:nvPr/>
        </p:nvCxnSpPr>
        <p:spPr>
          <a:xfrm>
            <a:off x="3480480" y="2142422"/>
            <a:ext cx="6317944" cy="1031083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036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D1427-5E57-2CCD-3B26-FAB4EE9CC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Modify </a:t>
            </a:r>
            <a:r>
              <a:rPr lang="en-US" altLang="ko-KR" dirty="0" err="1"/>
              <a:t>AlexNet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BBFAEA-F845-376D-3668-DCAE15398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190" y="2404804"/>
            <a:ext cx="4890247" cy="1396231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기본 </a:t>
            </a:r>
            <a:r>
              <a:rPr lang="en-US" altLang="ko-KR" sz="2000" dirty="0" err="1"/>
              <a:t>AlexNet</a:t>
            </a:r>
            <a:r>
              <a:rPr lang="ko-KR" altLang="en-US" sz="2000" dirty="0"/>
              <a:t> </a:t>
            </a:r>
            <a:r>
              <a:rPr lang="en-US" altLang="ko-KR" sz="2000" dirty="0"/>
              <a:t>model</a:t>
            </a:r>
            <a:r>
              <a:rPr lang="ko-KR" altLang="en-US" sz="2000" dirty="0"/>
              <a:t> 사용한 데이터</a:t>
            </a:r>
            <a:endParaRPr lang="en-US" altLang="ko-KR" sz="2000" dirty="0"/>
          </a:p>
          <a:p>
            <a:r>
              <a:rPr lang="ko-KR" altLang="en-US" sz="2000" dirty="0"/>
              <a:t>입력 크기 </a:t>
            </a:r>
            <a:r>
              <a:rPr lang="en-US" altLang="ko-KR" sz="2000" dirty="0"/>
              <a:t>: 3 x 224 x 224 (RGB)</a:t>
            </a:r>
          </a:p>
          <a:p>
            <a:r>
              <a:rPr lang="ko-KR" altLang="en-US" sz="2000" dirty="0"/>
              <a:t>출력 차원 </a:t>
            </a:r>
            <a:r>
              <a:rPr lang="en-US" altLang="ko-KR" sz="2000" dirty="0"/>
              <a:t>: 1000 class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51A7FCE-904C-FA7E-75E8-313EF0B09C64}"/>
              </a:ext>
            </a:extLst>
          </p:cNvPr>
          <p:cNvSpPr txBox="1">
            <a:spLocks/>
          </p:cNvSpPr>
          <p:nvPr/>
        </p:nvSpPr>
        <p:spPr>
          <a:xfrm>
            <a:off x="6701117" y="2404804"/>
            <a:ext cx="4890247" cy="13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이번 과제에서 사용하는 데이터</a:t>
            </a:r>
            <a:endParaRPr lang="en-US" altLang="ko-KR" sz="2000" dirty="0"/>
          </a:p>
          <a:p>
            <a:r>
              <a:rPr lang="ko-KR" altLang="en-US" sz="2000" dirty="0"/>
              <a:t>입력 크기 </a:t>
            </a:r>
            <a:r>
              <a:rPr lang="en-US" altLang="ko-KR" sz="2000" dirty="0"/>
              <a:t>: 3 x 64 x 64 (RGB)</a:t>
            </a:r>
          </a:p>
          <a:p>
            <a:r>
              <a:rPr lang="ko-KR" altLang="en-US" sz="2000" dirty="0"/>
              <a:t>출력 차원 </a:t>
            </a:r>
            <a:r>
              <a:rPr lang="en-US" altLang="ko-KR" sz="2000" dirty="0"/>
              <a:t>: 200 class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348D0-CE1D-8423-6E34-876CF3E33364}"/>
              </a:ext>
            </a:extLst>
          </p:cNvPr>
          <p:cNvSpPr txBox="1"/>
          <p:nvPr/>
        </p:nvSpPr>
        <p:spPr>
          <a:xfrm>
            <a:off x="2342031" y="1552592"/>
            <a:ext cx="214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ImageNet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AEF34-2F29-ACBC-034C-149C1C3F6DCF}"/>
              </a:ext>
            </a:extLst>
          </p:cNvPr>
          <p:cNvSpPr txBox="1"/>
          <p:nvPr/>
        </p:nvSpPr>
        <p:spPr>
          <a:xfrm>
            <a:off x="7411570" y="1552592"/>
            <a:ext cx="2734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err="1"/>
              <a:t>TinyImageNet</a:t>
            </a:r>
            <a:endParaRPr lang="ko-KR" altLang="en-US" sz="2400" b="1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B915A6D-B7AB-6E38-60A1-CECD67475A74}"/>
              </a:ext>
            </a:extLst>
          </p:cNvPr>
          <p:cNvSpPr txBox="1">
            <a:spLocks/>
          </p:cNvSpPr>
          <p:nvPr/>
        </p:nvSpPr>
        <p:spPr>
          <a:xfrm>
            <a:off x="968188" y="4520475"/>
            <a:ext cx="10161629" cy="2016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이름이 </a:t>
            </a:r>
            <a:r>
              <a:rPr lang="en-US" altLang="ko-KR" sz="2000" dirty="0"/>
              <a:t>Tiny</a:t>
            </a:r>
            <a:r>
              <a:rPr lang="ko-KR" altLang="en-US" sz="2000" dirty="0"/>
              <a:t>인 것부터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AlexNet</a:t>
            </a:r>
            <a:r>
              <a:rPr lang="ko-KR" altLang="en-US" sz="2000" dirty="0"/>
              <a:t>이 사용한 데이터의 축소 버전이다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그렇기 때문에 </a:t>
            </a:r>
            <a:r>
              <a:rPr lang="en-US" altLang="ko-KR" sz="2000" dirty="0"/>
              <a:t>model</a:t>
            </a:r>
            <a:r>
              <a:rPr lang="ko-KR" altLang="en-US" sz="2000" dirty="0"/>
              <a:t>을 더 단순하게 만들어도 잘 작동 할 것으로 예상했다</a:t>
            </a:r>
            <a:r>
              <a:rPr lang="en-US" altLang="ko-KR" sz="2000" dirty="0"/>
              <a:t>. </a:t>
            </a:r>
          </a:p>
          <a:p>
            <a:r>
              <a:rPr lang="ko-KR" altLang="en-US" sz="2000" dirty="0"/>
              <a:t>어쩌면</a:t>
            </a:r>
            <a:r>
              <a:rPr lang="en-US" altLang="ko-KR" sz="2000" dirty="0"/>
              <a:t>, model</a:t>
            </a:r>
            <a:r>
              <a:rPr lang="ko-KR" altLang="en-US" sz="2000" dirty="0"/>
              <a:t>이 더 단순해서 더 잘 작동할 수도 있을 것이라 생각했다</a:t>
            </a:r>
            <a:r>
              <a:rPr lang="en-US" altLang="ko-KR" sz="2000" dirty="0"/>
              <a:t>. (</a:t>
            </a:r>
            <a:r>
              <a:rPr lang="ko-KR" altLang="en-US" sz="2000" dirty="0"/>
              <a:t>네트워크가 깊으면 학습이 잘 안될 수도 있기 때문이다</a:t>
            </a:r>
            <a:r>
              <a:rPr lang="en-US" altLang="ko-KR" sz="2000" dirty="0"/>
              <a:t>.)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ADEC66-A4DA-66C0-4090-95B7ACC4AA95}"/>
              </a:ext>
            </a:extLst>
          </p:cNvPr>
          <p:cNvSpPr/>
          <p:nvPr/>
        </p:nvSpPr>
        <p:spPr>
          <a:xfrm>
            <a:off x="838200" y="1333517"/>
            <a:ext cx="4993341" cy="2467518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37FE68-7927-5122-EF25-50DB7D991732}"/>
              </a:ext>
            </a:extLst>
          </p:cNvPr>
          <p:cNvSpPr/>
          <p:nvPr/>
        </p:nvSpPr>
        <p:spPr>
          <a:xfrm>
            <a:off x="6282016" y="1333517"/>
            <a:ext cx="4993341" cy="2467518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380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E3B05-1766-6107-885B-2273D4B09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Modify </a:t>
            </a:r>
            <a:r>
              <a:rPr lang="en-US" altLang="ko-KR" dirty="0" err="1"/>
              <a:t>AlexNet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A63C31-9323-3FFF-019E-A151B0C4E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나머지는 모두 동일하게 하고 </a:t>
            </a:r>
            <a:r>
              <a:rPr lang="en-US" altLang="ko-KR" dirty="0"/>
              <a:t>feature extractor</a:t>
            </a:r>
            <a:r>
              <a:rPr lang="ko-KR" altLang="en-US" dirty="0"/>
              <a:t>만 바꾼다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전략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입력 크기가 작아졌으니 </a:t>
            </a:r>
            <a:r>
              <a:rPr lang="en-US" altLang="ko-KR" dirty="0"/>
              <a:t>kernel size, stride</a:t>
            </a:r>
            <a:r>
              <a:rPr lang="ko-KR" altLang="en-US" dirty="0"/>
              <a:t>를 전체적으로 낮춘다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입력 크기가 작아지고</a:t>
            </a:r>
            <a:r>
              <a:rPr lang="en-US" altLang="ko-KR" dirty="0"/>
              <a:t>, class</a:t>
            </a:r>
            <a:r>
              <a:rPr lang="ko-KR" altLang="en-US" dirty="0"/>
              <a:t>도 줄어들었으니</a:t>
            </a:r>
            <a:r>
              <a:rPr lang="en-US" altLang="ko-KR" dirty="0"/>
              <a:t>, </a:t>
            </a:r>
            <a:r>
              <a:rPr lang="ko-KR" altLang="en-US" dirty="0"/>
              <a:t>특징을 추출하는 </a:t>
            </a:r>
            <a:r>
              <a:rPr lang="en-US" altLang="ko-KR" dirty="0"/>
              <a:t>convolution </a:t>
            </a:r>
            <a:r>
              <a:rPr lang="ko-KR" altLang="en-US" dirty="0"/>
              <a:t>개수를 줄인다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3. class</a:t>
            </a:r>
            <a:r>
              <a:rPr lang="ko-KR" altLang="en-US" dirty="0"/>
              <a:t>가 줄어들었으니 </a:t>
            </a:r>
            <a:r>
              <a:rPr lang="en-US" altLang="ko-KR" dirty="0"/>
              <a:t>MLP node </a:t>
            </a:r>
            <a:r>
              <a:rPr lang="ko-KR" altLang="en-US" dirty="0"/>
              <a:t>개수 줄이기 </a:t>
            </a:r>
            <a:r>
              <a:rPr lang="en-US" altLang="ko-KR" dirty="0"/>
              <a:t>(</a:t>
            </a:r>
            <a:r>
              <a:rPr lang="ko-KR" altLang="en-US" dirty="0"/>
              <a:t>층은 이미 </a:t>
            </a:r>
            <a:r>
              <a:rPr lang="en-US" altLang="ko-KR" dirty="0"/>
              <a:t>3</a:t>
            </a:r>
            <a:r>
              <a:rPr lang="ko-KR" altLang="en-US" dirty="0"/>
              <a:t>개로 작기에 </a:t>
            </a:r>
            <a:r>
              <a:rPr lang="en-US" altLang="ko-KR" dirty="0"/>
              <a:t>fix)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6B6F73-C3B0-E465-C4F6-0875BD750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34" y="3645798"/>
            <a:ext cx="2680447" cy="26042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8A77CC-F61A-8785-A8D9-5CB67015AAFE}"/>
              </a:ext>
            </a:extLst>
          </p:cNvPr>
          <p:cNvSpPr txBox="1"/>
          <p:nvPr/>
        </p:nvSpPr>
        <p:spPr>
          <a:xfrm>
            <a:off x="3279648" y="4257275"/>
            <a:ext cx="21425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기본 </a:t>
            </a:r>
            <a:r>
              <a:rPr lang="en-US" altLang="ko-KR" sz="2000" b="1" dirty="0" err="1"/>
              <a:t>AlexNet</a:t>
            </a:r>
            <a:endParaRPr lang="en-US" altLang="ko-KR" sz="2000" b="1" dirty="0"/>
          </a:p>
          <a:p>
            <a:pPr algn="ctr"/>
            <a:endParaRPr lang="en-US" altLang="ko-KR" sz="2000" b="1" dirty="0"/>
          </a:p>
          <a:p>
            <a:pPr algn="ctr"/>
            <a:r>
              <a:rPr lang="en-US" altLang="ko-KR" sz="2000" b="1" dirty="0"/>
              <a:t>Parameter </a:t>
            </a:r>
            <a:r>
              <a:rPr lang="ko-KR" altLang="en-US" sz="2000" b="1" dirty="0"/>
              <a:t>수 </a:t>
            </a:r>
            <a:r>
              <a:rPr lang="en-US" altLang="ko-KR" sz="2000" b="1" dirty="0"/>
              <a:t>: 57.8M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4C3CAF-9915-AF2A-CA6E-E2494792B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536" y="3848472"/>
            <a:ext cx="2742343" cy="22415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7CB5FD-A1F3-9CD0-6230-C3582DE86E15}"/>
              </a:ext>
            </a:extLst>
          </p:cNvPr>
          <p:cNvSpPr txBox="1"/>
          <p:nvPr/>
        </p:nvSpPr>
        <p:spPr>
          <a:xfrm>
            <a:off x="9531943" y="4257275"/>
            <a:ext cx="21425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/>
              <a:t>Mini_AlexNet</a:t>
            </a:r>
            <a:endParaRPr lang="ko-KR" altLang="en-US" sz="2000" b="1" dirty="0"/>
          </a:p>
          <a:p>
            <a:pPr algn="ctr"/>
            <a:endParaRPr lang="en-US" altLang="ko-KR" sz="2000" b="1" dirty="0"/>
          </a:p>
          <a:p>
            <a:pPr algn="ctr"/>
            <a:r>
              <a:rPr lang="en-US" altLang="ko-KR" sz="2000" b="1" dirty="0"/>
              <a:t>Parameter </a:t>
            </a:r>
            <a:r>
              <a:rPr lang="ko-KR" altLang="en-US" sz="2000" b="1" dirty="0"/>
              <a:t>수 </a:t>
            </a:r>
            <a:r>
              <a:rPr lang="en-US" altLang="ko-KR" sz="2000" b="1" dirty="0"/>
              <a:t>: 15.1M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DCD74A-4A60-EE0C-1305-D60FE9319334}"/>
              </a:ext>
            </a:extLst>
          </p:cNvPr>
          <p:cNvSpPr/>
          <p:nvPr/>
        </p:nvSpPr>
        <p:spPr>
          <a:xfrm>
            <a:off x="598396" y="3428999"/>
            <a:ext cx="4728882" cy="3183515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917A7A-E2DE-63E3-7009-EF6E4EE50D68}"/>
              </a:ext>
            </a:extLst>
          </p:cNvPr>
          <p:cNvSpPr/>
          <p:nvPr/>
        </p:nvSpPr>
        <p:spPr>
          <a:xfrm>
            <a:off x="6802602" y="3424798"/>
            <a:ext cx="4795261" cy="3183515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D18811E-8031-BA0A-5DED-19451316A943}"/>
              </a:ext>
            </a:extLst>
          </p:cNvPr>
          <p:cNvSpPr/>
          <p:nvPr/>
        </p:nvSpPr>
        <p:spPr>
          <a:xfrm>
            <a:off x="5676472" y="4715435"/>
            <a:ext cx="839056" cy="421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55EF0-3091-BEB3-02AC-1EEC94D97CD5}"/>
              </a:ext>
            </a:extLst>
          </p:cNvPr>
          <p:cNvSpPr txBox="1"/>
          <p:nvPr/>
        </p:nvSpPr>
        <p:spPr>
          <a:xfrm>
            <a:off x="5431928" y="5300067"/>
            <a:ext cx="132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수정</a:t>
            </a:r>
            <a:endParaRPr lang="en-US" altLang="ko-KR" sz="2800" b="1" dirty="0"/>
          </a:p>
        </p:txBody>
      </p:sp>
    </p:spTree>
    <p:extLst>
      <p:ext uri="{BB962C8B-B14F-4D97-AF65-F5344CB8AC3E}">
        <p14:creationId xmlns:p14="http://schemas.microsoft.com/office/powerpoint/2010/main" val="3214585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E20C3-FCDB-2562-DD8B-596E9757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Modify </a:t>
            </a:r>
            <a:r>
              <a:rPr lang="en-US" altLang="ko-KR" dirty="0" err="1"/>
              <a:t>AlexNet</a:t>
            </a:r>
            <a:r>
              <a:rPr lang="en-US" altLang="ko-KR" dirty="0"/>
              <a:t> </a:t>
            </a:r>
            <a:r>
              <a:rPr lang="ko-KR" altLang="en-US" dirty="0"/>
              <a:t>결과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CD983F4A-11CB-F1BE-8961-FC9CD76A3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9563"/>
            <a:ext cx="10515600" cy="1779071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사실 수정한 </a:t>
            </a:r>
            <a:r>
              <a:rPr lang="en-US" altLang="ko-KR" dirty="0"/>
              <a:t>model</a:t>
            </a:r>
            <a:r>
              <a:rPr lang="ko-KR" altLang="en-US" dirty="0"/>
              <a:t>의 결과가 더 안 좋게 나올 줄 알았으나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성능이 압도적으로 좋게 나왔다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</a:p>
          <a:p>
            <a:r>
              <a:rPr lang="en-US" altLang="ko-KR" dirty="0" err="1"/>
              <a:t>AlexNet</a:t>
            </a:r>
            <a:r>
              <a:rPr lang="ko-KR" altLang="en-US" dirty="0"/>
              <a:t>에는 </a:t>
            </a:r>
            <a:r>
              <a:rPr lang="en-US" altLang="ko-KR" dirty="0"/>
              <a:t>residual </a:t>
            </a:r>
            <a:r>
              <a:rPr lang="ko-KR" altLang="en-US" dirty="0"/>
              <a:t>방법으로 최적화를 하지 않았기 때문에 </a:t>
            </a:r>
            <a:r>
              <a:rPr lang="en-US" altLang="ko-KR" dirty="0"/>
              <a:t>input</a:t>
            </a:r>
            <a:r>
              <a:rPr lang="ko-KR" altLang="en-US" dirty="0"/>
              <a:t>의 크기가 작거나</a:t>
            </a:r>
            <a:r>
              <a:rPr lang="en-US" altLang="ko-KR" dirty="0"/>
              <a:t>, class </a:t>
            </a:r>
            <a:r>
              <a:rPr lang="ko-KR" altLang="en-US" dirty="0"/>
              <a:t>수가 적은 </a:t>
            </a:r>
            <a:r>
              <a:rPr lang="ko-KR" altLang="en-US" dirty="0">
                <a:solidFill>
                  <a:srgbClr val="FF0000"/>
                </a:solidFill>
              </a:rPr>
              <a:t>간단한 </a:t>
            </a:r>
            <a:r>
              <a:rPr lang="en-US" altLang="ko-KR" dirty="0">
                <a:solidFill>
                  <a:srgbClr val="FF0000"/>
                </a:solidFill>
              </a:rPr>
              <a:t>task</a:t>
            </a:r>
            <a:r>
              <a:rPr lang="ko-KR" altLang="en-US" dirty="0">
                <a:solidFill>
                  <a:srgbClr val="FF0000"/>
                </a:solidFill>
              </a:rPr>
              <a:t>에 대해서는 오히려 간단한 </a:t>
            </a:r>
            <a:r>
              <a:rPr lang="en-US" altLang="ko-KR" dirty="0">
                <a:solidFill>
                  <a:srgbClr val="FF0000"/>
                </a:solidFill>
              </a:rPr>
              <a:t>model</a:t>
            </a:r>
            <a:r>
              <a:rPr lang="ko-KR" altLang="en-US" dirty="0">
                <a:solidFill>
                  <a:srgbClr val="FF0000"/>
                </a:solidFill>
              </a:rPr>
              <a:t>이 훨씬 더 잘 동작하는 것 같다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544E585-9D24-326E-32A8-E7DABEE03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74" y="1104342"/>
            <a:ext cx="8704729" cy="3598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F87AC8-A19B-7CCA-BF24-FF3EA22F34FB}"/>
              </a:ext>
            </a:extLst>
          </p:cNvPr>
          <p:cNvSpPr txBox="1"/>
          <p:nvPr/>
        </p:nvSpPr>
        <p:spPr>
          <a:xfrm>
            <a:off x="9475009" y="2267833"/>
            <a:ext cx="2501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FF00FF"/>
                </a:solidFill>
              </a:rPr>
              <a:t>분홍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기본 </a:t>
            </a:r>
            <a:r>
              <a:rPr lang="en-US" altLang="ko-KR" sz="2000" b="1" dirty="0" err="1"/>
              <a:t>AlexNet</a:t>
            </a:r>
            <a:r>
              <a:rPr lang="en-US" altLang="ko-KR" sz="2000" b="1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93538C-0CA9-DA62-99D5-A0EC8A8E2248}"/>
              </a:ext>
            </a:extLst>
          </p:cNvPr>
          <p:cNvSpPr txBox="1"/>
          <p:nvPr/>
        </p:nvSpPr>
        <p:spPr>
          <a:xfrm>
            <a:off x="9475009" y="2722659"/>
            <a:ext cx="2501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FFC000"/>
                </a:solidFill>
              </a:rPr>
              <a:t>주황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수정 </a:t>
            </a:r>
            <a:r>
              <a:rPr lang="en-US" altLang="ko-KR" sz="2000" b="1" dirty="0" err="1"/>
              <a:t>AlexNet</a:t>
            </a:r>
            <a:r>
              <a:rPr lang="en-US" altLang="ko-KR" sz="2000" b="1" dirty="0"/>
              <a:t> </a:t>
            </a:r>
          </a:p>
        </p:txBody>
      </p:sp>
      <p:sp>
        <p:nvSpPr>
          <p:cNvPr id="3" name="화살표: 위쪽 2">
            <a:extLst>
              <a:ext uri="{FF2B5EF4-FFF2-40B4-BE49-F238E27FC236}">
                <a16:creationId xmlns:a16="http://schemas.microsoft.com/office/drawing/2014/main" id="{957B0087-5719-48C2-0D30-17FB18372ABF}"/>
              </a:ext>
            </a:extLst>
          </p:cNvPr>
          <p:cNvSpPr/>
          <p:nvPr/>
        </p:nvSpPr>
        <p:spPr>
          <a:xfrm>
            <a:off x="4701988" y="1631576"/>
            <a:ext cx="112060" cy="925959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위쪽 3">
            <a:extLst>
              <a:ext uri="{FF2B5EF4-FFF2-40B4-BE49-F238E27FC236}">
                <a16:creationId xmlns:a16="http://schemas.microsoft.com/office/drawing/2014/main" id="{5CE46918-C63E-6599-E654-60101BAC6127}"/>
              </a:ext>
            </a:extLst>
          </p:cNvPr>
          <p:cNvSpPr/>
          <p:nvPr/>
        </p:nvSpPr>
        <p:spPr>
          <a:xfrm rot="10800000">
            <a:off x="9152964" y="3776725"/>
            <a:ext cx="98613" cy="66080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280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72B94-0147-AE04-AC3F-5523E849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4. size-accuracy trade-off plot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8B141F-8BFE-DB1C-9AC7-3A3DBBA31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efficientnet_b0 ~ efficientnet_b7</a:t>
            </a:r>
            <a:r>
              <a:rPr lang="ko-KR" altLang="en-US" dirty="0"/>
              <a:t>를 사용하여 진행하려 했으나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FF0000"/>
                </a:solidFill>
              </a:rPr>
              <a:t>1 epoch</a:t>
            </a:r>
            <a:r>
              <a:rPr lang="ko-KR" altLang="en-US" dirty="0">
                <a:solidFill>
                  <a:srgbClr val="FF0000"/>
                </a:solidFill>
              </a:rPr>
              <a:t>당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시간이 걸려 </a:t>
            </a:r>
            <a:r>
              <a:rPr lang="en-US" altLang="ko-KR" dirty="0" err="1">
                <a:solidFill>
                  <a:srgbClr val="FF0000"/>
                </a:solidFill>
              </a:rPr>
              <a:t>resinet</a:t>
            </a:r>
            <a:r>
              <a:rPr lang="ko-KR" altLang="en-US" dirty="0">
                <a:solidFill>
                  <a:srgbClr val="FF0000"/>
                </a:solidFill>
              </a:rPr>
              <a:t>으로 전환했다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err="1"/>
              <a:t>resnet</a:t>
            </a:r>
            <a:r>
              <a:rPr lang="en-US" altLang="ko-KR" dirty="0"/>
              <a:t> 18, </a:t>
            </a:r>
            <a:r>
              <a:rPr lang="en-US" altLang="ko-KR" dirty="0" err="1"/>
              <a:t>resnet</a:t>
            </a:r>
            <a:r>
              <a:rPr lang="en-US" altLang="ko-KR" dirty="0"/>
              <a:t> 34, </a:t>
            </a:r>
            <a:r>
              <a:rPr lang="en-US" altLang="ko-KR" dirty="0" err="1"/>
              <a:t>resnet</a:t>
            </a:r>
            <a:r>
              <a:rPr lang="en-US" altLang="ko-KR" dirty="0"/>
              <a:t> 50</a:t>
            </a:r>
            <a:r>
              <a:rPr lang="ko-KR" altLang="en-US" dirty="0"/>
              <a:t>으로 진행했다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Setting</a:t>
            </a:r>
            <a:r>
              <a:rPr lang="ko-KR" altLang="en-US" dirty="0"/>
              <a:t>은 </a:t>
            </a:r>
            <a:r>
              <a:rPr lang="en-US" altLang="ko-KR" dirty="0"/>
              <a:t>default</a:t>
            </a:r>
            <a:r>
              <a:rPr lang="ko-KR" altLang="en-US" dirty="0"/>
              <a:t>로 하는데</a:t>
            </a:r>
            <a:r>
              <a:rPr lang="en-US" altLang="ko-KR" dirty="0"/>
              <a:t>, Train </a:t>
            </a:r>
            <a:r>
              <a:rPr lang="ko-KR" altLang="en-US" dirty="0"/>
              <a:t>속도 문제로</a:t>
            </a:r>
            <a:r>
              <a:rPr lang="en-US" altLang="ko-KR" dirty="0"/>
              <a:t>, </a:t>
            </a:r>
            <a:r>
              <a:rPr lang="en-US" altLang="ko-KR" dirty="0" err="1"/>
              <a:t>resnet</a:t>
            </a:r>
            <a:r>
              <a:rPr lang="en-US" altLang="ko-KR" dirty="0"/>
              <a:t> 34, </a:t>
            </a:r>
            <a:r>
              <a:rPr lang="en-US" altLang="ko-KR" dirty="0" err="1"/>
              <a:t>resnet</a:t>
            </a:r>
            <a:r>
              <a:rPr lang="en-US" altLang="ko-KR" dirty="0"/>
              <a:t> 50</a:t>
            </a:r>
            <a:r>
              <a:rPr lang="ko-KR" altLang="en-US" dirty="0"/>
              <a:t>은 </a:t>
            </a:r>
            <a:r>
              <a:rPr lang="en-US" altLang="ko-KR" dirty="0"/>
              <a:t>batch size</a:t>
            </a:r>
            <a:r>
              <a:rPr lang="ko-KR" altLang="en-US" dirty="0"/>
              <a:t>를 절반인 </a:t>
            </a:r>
            <a:r>
              <a:rPr lang="en-US" altLang="ko-KR" dirty="0"/>
              <a:t>256</a:t>
            </a:r>
            <a:r>
              <a:rPr lang="ko-KR" altLang="en-US" dirty="0"/>
              <a:t>로 진행했다</a:t>
            </a:r>
            <a:r>
              <a:rPr lang="en-US" altLang="ko-KR" dirty="0"/>
              <a:t>. (</a:t>
            </a:r>
            <a:r>
              <a:rPr lang="en-US" altLang="ko-KR" dirty="0" err="1"/>
              <a:t>resnet</a:t>
            </a:r>
            <a:r>
              <a:rPr lang="en-US" altLang="ko-KR" dirty="0"/>
              <a:t> 18</a:t>
            </a:r>
            <a:r>
              <a:rPr lang="ko-KR" altLang="en-US" dirty="0"/>
              <a:t>은 </a:t>
            </a:r>
            <a:r>
              <a:rPr lang="en-US" altLang="ko-KR" dirty="0"/>
              <a:t>512)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7121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FE06A-627E-C331-AF0E-CBC5FA07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4. size-accuracy trade-off plot </a:t>
            </a:r>
            <a:r>
              <a:rPr lang="ko-KR" altLang="en-US" dirty="0"/>
              <a:t>결과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F6824F-24EA-0847-C43E-C4C77C231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7505"/>
            <a:ext cx="10515600" cy="1999130"/>
          </a:xfrm>
        </p:spPr>
        <p:txBody>
          <a:bodyPr/>
          <a:lstStyle/>
          <a:p>
            <a:r>
              <a:rPr lang="en-US" altLang="ko-KR" dirty="0"/>
              <a:t>Resnet version</a:t>
            </a:r>
            <a:r>
              <a:rPr lang="ko-KR" altLang="en-US" dirty="0"/>
              <a:t>이 올라갈수록 성능</a:t>
            </a:r>
            <a:r>
              <a:rPr lang="en-US" altLang="ko-KR" dirty="0"/>
              <a:t>(accuracy/</a:t>
            </a:r>
            <a:r>
              <a:rPr lang="en-US" altLang="ko-KR" dirty="0" err="1"/>
              <a:t>val</a:t>
            </a:r>
            <a:r>
              <a:rPr lang="en-US" altLang="ko-KR" dirty="0"/>
              <a:t>)</a:t>
            </a:r>
            <a:r>
              <a:rPr lang="ko-KR" altLang="en-US" dirty="0"/>
              <a:t>이 당연히 증가할 줄 알았는데</a:t>
            </a:r>
            <a:r>
              <a:rPr lang="en-US" altLang="ko-KR" dirty="0"/>
              <a:t>, </a:t>
            </a:r>
            <a:r>
              <a:rPr lang="ko-KR" altLang="en-US" dirty="0"/>
              <a:t>역으로 더 안 좋아졌다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이유 </a:t>
            </a:r>
            <a:r>
              <a:rPr lang="en-US" altLang="ko-KR" dirty="0"/>
              <a:t>: loss/train, loss/</a:t>
            </a:r>
            <a:r>
              <a:rPr lang="en-US" altLang="ko-KR" dirty="0" err="1"/>
              <a:t>val</a:t>
            </a:r>
            <a:r>
              <a:rPr lang="en-US" altLang="ko-KR" dirty="0"/>
              <a:t> </a:t>
            </a:r>
            <a:r>
              <a:rPr lang="ko-KR" altLang="en-US" dirty="0"/>
              <a:t>곡선을 보면 </a:t>
            </a:r>
            <a:r>
              <a:rPr lang="en-US" altLang="ko-KR" dirty="0" err="1"/>
              <a:t>resnet</a:t>
            </a:r>
            <a:r>
              <a:rPr lang="en-US" altLang="ko-KR" dirty="0"/>
              <a:t> version</a:t>
            </a:r>
            <a:r>
              <a:rPr lang="ko-KR" altLang="en-US" dirty="0"/>
              <a:t>이 올라가면서 층이 더 </a:t>
            </a:r>
            <a:r>
              <a:rPr lang="en-US" altLang="ko-KR" dirty="0"/>
              <a:t>deep</a:t>
            </a:r>
            <a:r>
              <a:rPr lang="ko-KR" altLang="en-US" dirty="0"/>
              <a:t>해져 과적합이 됐다고 생각할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E198C6-C6FB-F37D-5CB0-9F7E687DA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41" y="1000540"/>
            <a:ext cx="7525871" cy="32524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F27C2A-F59D-F8D6-70DC-9C2B02C195A4}"/>
              </a:ext>
            </a:extLst>
          </p:cNvPr>
          <p:cNvSpPr txBox="1"/>
          <p:nvPr/>
        </p:nvSpPr>
        <p:spPr>
          <a:xfrm>
            <a:off x="8735422" y="2892942"/>
            <a:ext cx="289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5"/>
                </a:solidFill>
              </a:rPr>
              <a:t>보라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en-US" altLang="ko-KR" sz="2000" b="1" dirty="0" err="1"/>
              <a:t>resnet</a:t>
            </a:r>
            <a:r>
              <a:rPr lang="en-US" altLang="ko-KR" sz="2000" b="1" dirty="0"/>
              <a:t> 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9ACC9-58C8-77F1-16C0-E2E56B86D968}"/>
              </a:ext>
            </a:extLst>
          </p:cNvPr>
          <p:cNvSpPr txBox="1"/>
          <p:nvPr/>
        </p:nvSpPr>
        <p:spPr>
          <a:xfrm>
            <a:off x="8735422" y="1960439"/>
            <a:ext cx="2501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</a:rPr>
              <a:t>파랑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en-US" altLang="ko-KR" sz="2000" b="1" dirty="0" err="1"/>
              <a:t>resnet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C3786-901B-3643-27D4-9435C34729FC}"/>
              </a:ext>
            </a:extLst>
          </p:cNvPr>
          <p:cNvSpPr txBox="1"/>
          <p:nvPr/>
        </p:nvSpPr>
        <p:spPr>
          <a:xfrm>
            <a:off x="8735422" y="2426691"/>
            <a:ext cx="289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연두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en-US" altLang="ko-KR" sz="2000" b="1" dirty="0" err="1"/>
              <a:t>resnet</a:t>
            </a:r>
            <a:r>
              <a:rPr lang="en-US" altLang="ko-KR" sz="2000" b="1" dirty="0"/>
              <a:t> 34 </a:t>
            </a:r>
          </a:p>
        </p:txBody>
      </p:sp>
      <p:sp>
        <p:nvSpPr>
          <p:cNvPr id="9" name="화살표: 위쪽 8">
            <a:extLst>
              <a:ext uri="{FF2B5EF4-FFF2-40B4-BE49-F238E27FC236}">
                <a16:creationId xmlns:a16="http://schemas.microsoft.com/office/drawing/2014/main" id="{8254722F-0329-10BB-2B52-F5F866FF9F34}"/>
              </a:ext>
            </a:extLst>
          </p:cNvPr>
          <p:cNvSpPr/>
          <p:nvPr/>
        </p:nvSpPr>
        <p:spPr>
          <a:xfrm>
            <a:off x="8386482" y="2426691"/>
            <a:ext cx="188259" cy="60827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위쪽 9">
            <a:extLst>
              <a:ext uri="{FF2B5EF4-FFF2-40B4-BE49-F238E27FC236}">
                <a16:creationId xmlns:a16="http://schemas.microsoft.com/office/drawing/2014/main" id="{3B6C1D76-B098-7035-70DE-0CEEAC48395B}"/>
              </a:ext>
            </a:extLst>
          </p:cNvPr>
          <p:cNvSpPr/>
          <p:nvPr/>
        </p:nvSpPr>
        <p:spPr>
          <a:xfrm rot="10800000">
            <a:off x="8386481" y="3422954"/>
            <a:ext cx="188259" cy="60827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위쪽 10">
            <a:extLst>
              <a:ext uri="{FF2B5EF4-FFF2-40B4-BE49-F238E27FC236}">
                <a16:creationId xmlns:a16="http://schemas.microsoft.com/office/drawing/2014/main" id="{0797A364-8547-1383-4F7E-E16B1899F28D}"/>
              </a:ext>
            </a:extLst>
          </p:cNvPr>
          <p:cNvSpPr/>
          <p:nvPr/>
        </p:nvSpPr>
        <p:spPr>
          <a:xfrm rot="10800000">
            <a:off x="4596651" y="1447265"/>
            <a:ext cx="121025" cy="41237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FB99C91-53D3-94CC-FCFD-937F04EC23CC}"/>
              </a:ext>
            </a:extLst>
          </p:cNvPr>
          <p:cNvCxnSpPr>
            <a:cxnSpLocks/>
          </p:cNvCxnSpPr>
          <p:nvPr/>
        </p:nvCxnSpPr>
        <p:spPr>
          <a:xfrm flipH="1" flipV="1">
            <a:off x="4717676" y="1654976"/>
            <a:ext cx="750795" cy="3042529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D36A89C-9079-29EF-AA14-D518336930AB}"/>
              </a:ext>
            </a:extLst>
          </p:cNvPr>
          <p:cNvCxnSpPr>
            <a:cxnSpLocks/>
          </p:cNvCxnSpPr>
          <p:nvPr/>
        </p:nvCxnSpPr>
        <p:spPr>
          <a:xfrm flipV="1">
            <a:off x="5589496" y="3214792"/>
            <a:ext cx="2604210" cy="2244714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972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D0C98-122D-CD1D-DCED-7034DFD1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4. size-accuracy trade-off plot </a:t>
            </a:r>
            <a:r>
              <a:rPr lang="ko-KR" altLang="en-US" dirty="0"/>
              <a:t>결과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F2096-70EC-A91D-19D4-5BB191CE6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3"/>
            <a:ext cx="10515600" cy="5905479"/>
          </a:xfrm>
        </p:spPr>
        <p:txBody>
          <a:bodyPr>
            <a:normAutofit/>
          </a:bodyPr>
          <a:lstStyle/>
          <a:p>
            <a:r>
              <a:rPr lang="ko-KR" altLang="en-US" dirty="0"/>
              <a:t>결과는 원래 </a:t>
            </a:r>
            <a:r>
              <a:rPr lang="en-US" altLang="ko-KR" dirty="0"/>
              <a:t>test dataset</a:t>
            </a:r>
            <a:r>
              <a:rPr lang="ko-KR" altLang="en-US" dirty="0"/>
              <a:t>으로 판단해야 하나</a:t>
            </a:r>
            <a:r>
              <a:rPr lang="en-US" altLang="ko-KR" dirty="0"/>
              <a:t>, tiny-imagenet-200</a:t>
            </a:r>
            <a:r>
              <a:rPr lang="ko-KR" altLang="en-US" dirty="0"/>
              <a:t>폴더 내부</a:t>
            </a:r>
            <a:r>
              <a:rPr lang="en-US" altLang="ko-KR" dirty="0"/>
              <a:t>test dataset</a:t>
            </a:r>
            <a:r>
              <a:rPr lang="ko-KR" altLang="en-US" dirty="0"/>
              <a:t>을 보면 </a:t>
            </a:r>
            <a:r>
              <a:rPr lang="en-US" altLang="ko-KR" dirty="0"/>
              <a:t>labeling</a:t>
            </a:r>
            <a:r>
              <a:rPr lang="ko-KR" altLang="en-US" dirty="0"/>
              <a:t>이 되어 있지 않았다</a:t>
            </a:r>
            <a:r>
              <a:rPr lang="en-US" altLang="ko-KR" dirty="0"/>
              <a:t>. </a:t>
            </a:r>
            <a:r>
              <a:rPr lang="ko-KR" altLang="en-US" dirty="0"/>
              <a:t>따라서 그냥 주어진 코드를 돌려 </a:t>
            </a:r>
            <a:r>
              <a:rPr lang="en-US" altLang="ko-KR" dirty="0"/>
              <a:t>validation dataset</a:t>
            </a:r>
            <a:r>
              <a:rPr lang="ko-KR" altLang="en-US" dirty="0"/>
              <a:t>으로 최종 평가를 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Accuracy/</a:t>
            </a:r>
            <a:r>
              <a:rPr lang="en-US" altLang="ko-KR" dirty="0" err="1"/>
              <a:t>val</a:t>
            </a:r>
            <a:r>
              <a:rPr lang="ko-KR" altLang="en-US" dirty="0"/>
              <a:t>은 주어진 코드에서 가장 </a:t>
            </a:r>
            <a:r>
              <a:rPr lang="en-US" altLang="ko-KR" dirty="0"/>
              <a:t>maximum </a:t>
            </a:r>
            <a:r>
              <a:rPr lang="ko-KR" altLang="en-US" dirty="0"/>
              <a:t>값에 해당하는 </a:t>
            </a:r>
            <a:r>
              <a:rPr lang="en-US" altLang="ko-KR" dirty="0"/>
              <a:t>model</a:t>
            </a:r>
            <a:r>
              <a:rPr lang="ko-KR" altLang="en-US" dirty="0"/>
              <a:t>을 자동적으로 저장하고</a:t>
            </a:r>
            <a:r>
              <a:rPr lang="en-US" altLang="ko-KR" dirty="0"/>
              <a:t>, test.py</a:t>
            </a:r>
            <a:r>
              <a:rPr lang="ko-KR" altLang="en-US" dirty="0"/>
              <a:t>는 그 </a:t>
            </a:r>
            <a:r>
              <a:rPr lang="en-US" altLang="ko-KR" dirty="0"/>
              <a:t>model</a:t>
            </a:r>
            <a:r>
              <a:rPr lang="ko-KR" altLang="en-US" dirty="0"/>
              <a:t>을 사용하기 때문에 </a:t>
            </a:r>
            <a:r>
              <a:rPr lang="en-US" altLang="ko-KR" dirty="0"/>
              <a:t>test.py</a:t>
            </a:r>
            <a:r>
              <a:rPr lang="ko-KR" altLang="en-US" dirty="0"/>
              <a:t>를 돌려 나온 값을 그대로 사용했다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01CB2CF-5B56-6A52-A249-BB00FAA2B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837" y="3429000"/>
            <a:ext cx="8551328" cy="30882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69F592-56E5-081A-2887-C7663289464B}"/>
              </a:ext>
            </a:extLst>
          </p:cNvPr>
          <p:cNvSpPr/>
          <p:nvPr/>
        </p:nvSpPr>
        <p:spPr>
          <a:xfrm>
            <a:off x="1819835" y="3922058"/>
            <a:ext cx="1676400" cy="259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20B76D-2D6F-2236-72A7-CE97E96FEA6A}"/>
              </a:ext>
            </a:extLst>
          </p:cNvPr>
          <p:cNvSpPr/>
          <p:nvPr/>
        </p:nvSpPr>
        <p:spPr>
          <a:xfrm>
            <a:off x="1829301" y="4379258"/>
            <a:ext cx="3854824" cy="259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44F606-A87E-D4F6-2905-0A6113EDA059}"/>
              </a:ext>
            </a:extLst>
          </p:cNvPr>
          <p:cNvSpPr/>
          <p:nvPr/>
        </p:nvSpPr>
        <p:spPr>
          <a:xfrm>
            <a:off x="1837765" y="4845423"/>
            <a:ext cx="1676400" cy="259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CCCD5B-DB48-A784-CFC2-C42B1D596A6A}"/>
              </a:ext>
            </a:extLst>
          </p:cNvPr>
          <p:cNvSpPr/>
          <p:nvPr/>
        </p:nvSpPr>
        <p:spPr>
          <a:xfrm>
            <a:off x="1847231" y="5302623"/>
            <a:ext cx="3854824" cy="259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1CB35C-0F7D-8523-9AE5-071B6E61F2B0}"/>
              </a:ext>
            </a:extLst>
          </p:cNvPr>
          <p:cNvSpPr/>
          <p:nvPr/>
        </p:nvSpPr>
        <p:spPr>
          <a:xfrm>
            <a:off x="1828800" y="5804646"/>
            <a:ext cx="1676400" cy="259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F5BC597-55DA-FE7D-0373-F9D1841C4187}"/>
              </a:ext>
            </a:extLst>
          </p:cNvPr>
          <p:cNvSpPr/>
          <p:nvPr/>
        </p:nvSpPr>
        <p:spPr>
          <a:xfrm>
            <a:off x="1838266" y="6261846"/>
            <a:ext cx="3854824" cy="259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241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5783-F59A-37DF-A491-7D5CDDE6F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4. size-accuracy trade-off plot </a:t>
            </a:r>
            <a:r>
              <a:rPr lang="ko-KR" altLang="en-US" dirty="0"/>
              <a:t>결과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ED1356-5E18-DBBC-B6A5-993777E97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 슬라이드에 있는 것을 </a:t>
            </a:r>
            <a:r>
              <a:rPr lang="en-US" altLang="ko-KR" dirty="0"/>
              <a:t>plot</a:t>
            </a:r>
            <a:r>
              <a:rPr lang="ko-KR" altLang="en-US" dirty="0"/>
              <a:t>하면 다음과 같다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(plot_family.py)</a:t>
            </a:r>
          </a:p>
          <a:p>
            <a:endParaRPr lang="en-US" altLang="ko-KR" dirty="0"/>
          </a:p>
          <a:p>
            <a:r>
              <a:rPr lang="en-US" altLang="ko-KR" dirty="0"/>
              <a:t>Parameter</a:t>
            </a:r>
            <a:r>
              <a:rPr lang="ko-KR" altLang="en-US" dirty="0"/>
              <a:t> 수와</a:t>
            </a:r>
            <a:r>
              <a:rPr lang="en-US" altLang="ko-KR" dirty="0"/>
              <a:t>, FLOP</a:t>
            </a:r>
            <a:r>
              <a:rPr lang="ko-KR" altLang="en-US" dirty="0"/>
              <a:t>이 거의 비례하는 것을</a:t>
            </a:r>
            <a:br>
              <a:rPr lang="en-US" altLang="ko-KR" dirty="0"/>
            </a:br>
            <a:r>
              <a:rPr lang="ko-KR" altLang="en-US" dirty="0"/>
              <a:t>볼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resnet</a:t>
            </a:r>
            <a:r>
              <a:rPr lang="en-US" altLang="ko-KR" dirty="0"/>
              <a:t> version</a:t>
            </a:r>
            <a:r>
              <a:rPr lang="ko-KR" altLang="en-US" dirty="0"/>
              <a:t>이 올라갈수록 </a:t>
            </a:r>
            <a:r>
              <a:rPr lang="en-US" altLang="ko-KR" dirty="0"/>
              <a:t>parameter, FLOP</a:t>
            </a:r>
            <a:br>
              <a:rPr lang="en-US" altLang="ko-KR" dirty="0"/>
            </a:br>
            <a:r>
              <a:rPr lang="ko-KR" altLang="en-US" dirty="0"/>
              <a:t>수는 증가하지만</a:t>
            </a:r>
            <a:r>
              <a:rPr lang="en-US" altLang="ko-KR" dirty="0"/>
              <a:t>, </a:t>
            </a:r>
            <a:r>
              <a:rPr lang="ko-KR" altLang="en-US" dirty="0"/>
              <a:t>성능은 오히려 악화되었다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CC721B-868A-E0EB-8E8E-3A5D35F2E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455" y="1660755"/>
            <a:ext cx="3695345" cy="49517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9320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D6412-3CE7-39E1-EAE2-20C13A62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5. state-of-the 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1CAF8-C216-9A6C-A599-DA8936ED2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Idea : model</a:t>
            </a:r>
            <a:r>
              <a:rPr lang="ko-KR" altLang="en-US" dirty="0"/>
              <a:t>은 </a:t>
            </a:r>
            <a:r>
              <a:rPr lang="en-US" altLang="ko-KR" dirty="0"/>
              <a:t>accuracy</a:t>
            </a:r>
            <a:r>
              <a:rPr lang="ko-KR" altLang="en-US" dirty="0"/>
              <a:t>가 높을 수록 좋다고 볼 수 있다</a:t>
            </a:r>
            <a:r>
              <a:rPr lang="en-US" altLang="ko-KR" dirty="0"/>
              <a:t>. </a:t>
            </a:r>
            <a:r>
              <a:rPr lang="ko-KR" altLang="en-US" dirty="0"/>
              <a:t>그렇기 때문에 </a:t>
            </a:r>
            <a:r>
              <a:rPr lang="en-US" altLang="ko-KR" dirty="0"/>
              <a:t>train</a:t>
            </a:r>
            <a:r>
              <a:rPr lang="ko-KR" altLang="en-US" dirty="0"/>
              <a:t>이 잘 안되는 </a:t>
            </a:r>
            <a:r>
              <a:rPr lang="en-US" altLang="ko-KR" dirty="0"/>
              <a:t>label</a:t>
            </a:r>
            <a:r>
              <a:rPr lang="ko-KR" altLang="en-US" dirty="0"/>
              <a:t>의 데이터를 아예 </a:t>
            </a:r>
            <a:r>
              <a:rPr lang="en-US" altLang="ko-KR" dirty="0"/>
              <a:t>train</a:t>
            </a:r>
            <a:r>
              <a:rPr lang="ko-KR" altLang="en-US" dirty="0"/>
              <a:t>에서 제외하면 어떨까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자신의 데이터 뿐만 아니라</a:t>
            </a:r>
            <a:r>
              <a:rPr lang="en-US" altLang="ko-KR" dirty="0"/>
              <a:t> </a:t>
            </a:r>
            <a:r>
              <a:rPr lang="ko-KR" altLang="en-US" dirty="0"/>
              <a:t>다른 </a:t>
            </a:r>
            <a:r>
              <a:rPr lang="en-US" altLang="ko-KR" dirty="0"/>
              <a:t>label</a:t>
            </a:r>
            <a:r>
              <a:rPr lang="ko-KR" altLang="en-US" dirty="0"/>
              <a:t>의 데이터도 </a:t>
            </a:r>
            <a:r>
              <a:rPr lang="en-US" altLang="ko-KR" dirty="0"/>
              <a:t>train</a:t>
            </a:r>
            <a:r>
              <a:rPr lang="ko-KR" altLang="en-US" dirty="0"/>
              <a:t>이 잘 안되게 방해할 바에는 아예 </a:t>
            </a:r>
            <a:r>
              <a:rPr lang="en-US" altLang="ko-KR" dirty="0"/>
              <a:t>train</a:t>
            </a:r>
            <a:r>
              <a:rPr lang="ko-KR" altLang="en-US" dirty="0"/>
              <a:t> 자체에</a:t>
            </a:r>
            <a:r>
              <a:rPr lang="en-US" altLang="ko-KR" dirty="0"/>
              <a:t> </a:t>
            </a:r>
            <a:r>
              <a:rPr lang="ko-KR" altLang="en-US" dirty="0"/>
              <a:t>그 </a:t>
            </a:r>
            <a:r>
              <a:rPr lang="en-US" altLang="ko-KR" dirty="0"/>
              <a:t>label</a:t>
            </a:r>
            <a:r>
              <a:rPr lang="ko-KR" altLang="en-US" dirty="0"/>
              <a:t>의 데이터를 사용하지 않는다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</a:p>
          <a:p>
            <a:r>
              <a:rPr lang="en-US" altLang="ko-KR" dirty="0"/>
              <a:t>Train</a:t>
            </a:r>
            <a:r>
              <a:rPr lang="ko-KR" altLang="en-US" dirty="0"/>
              <a:t>을 방해하는 </a:t>
            </a:r>
            <a:r>
              <a:rPr lang="en-US" altLang="ko-KR" dirty="0"/>
              <a:t>label </a:t>
            </a:r>
            <a:r>
              <a:rPr lang="ko-KR" altLang="en-US" dirty="0"/>
              <a:t>기준 </a:t>
            </a:r>
            <a:endParaRPr lang="en-US" altLang="ko-KR" dirty="0"/>
          </a:p>
          <a:p>
            <a:pPr lvl="1"/>
            <a:r>
              <a:rPr lang="en-US" altLang="ko-KR" dirty="0"/>
              <a:t>FN, FP</a:t>
            </a:r>
            <a:r>
              <a:rPr lang="ko-KR" altLang="en-US" dirty="0"/>
              <a:t>가 높은 </a:t>
            </a:r>
            <a:r>
              <a:rPr lang="en-US" altLang="ko-KR" dirty="0"/>
              <a:t>label</a:t>
            </a:r>
            <a:r>
              <a:rPr lang="ko-KR" altLang="en-US" dirty="0"/>
              <a:t>이 다른 </a:t>
            </a:r>
            <a:r>
              <a:rPr lang="en-US" altLang="ko-KR" dirty="0"/>
              <a:t>label</a:t>
            </a:r>
            <a:r>
              <a:rPr lang="ko-KR" altLang="en-US" dirty="0"/>
              <a:t>과의 분류에서 혼동을 준다고 가정한다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구체적인 </a:t>
            </a:r>
            <a:r>
              <a:rPr lang="en-US" altLang="ko-KR" dirty="0"/>
              <a:t>(</a:t>
            </a:r>
            <a:r>
              <a:rPr lang="ko-KR" altLang="en-US" dirty="0"/>
              <a:t>내가</a:t>
            </a:r>
            <a:r>
              <a:rPr lang="en-US" altLang="ko-KR" dirty="0"/>
              <a:t>)</a:t>
            </a:r>
            <a:r>
              <a:rPr lang="ko-KR" altLang="en-US" dirty="0"/>
              <a:t> 내린 기준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FF0000"/>
                </a:solidFill>
              </a:rPr>
              <a:t>FN, FP</a:t>
            </a:r>
            <a:r>
              <a:rPr lang="ko-KR" altLang="en-US" dirty="0">
                <a:solidFill>
                  <a:srgbClr val="FF0000"/>
                </a:solidFill>
              </a:rPr>
              <a:t>의 기하 평균이 높을수록 다른 </a:t>
            </a:r>
            <a:r>
              <a:rPr lang="en-US" altLang="ko-KR" dirty="0">
                <a:solidFill>
                  <a:srgbClr val="FF0000"/>
                </a:solidFill>
              </a:rPr>
              <a:t>label</a:t>
            </a:r>
            <a:r>
              <a:rPr lang="ko-KR" altLang="en-US" dirty="0">
                <a:solidFill>
                  <a:srgbClr val="FF0000"/>
                </a:solidFill>
              </a:rPr>
              <a:t>과의 분류에서 혼동을 많이 준다고 가정한다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860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C1375-1826-1E23-FD1C-915202D15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5. state-of-the art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6F526-47BA-1470-DAAE-3DD8F11B4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4"/>
            <a:ext cx="10515600" cy="5681360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Resnet18</a:t>
            </a:r>
            <a:r>
              <a:rPr lang="ko-KR" altLang="en-US" dirty="0"/>
              <a:t>로 </a:t>
            </a:r>
            <a:r>
              <a:rPr lang="en-US" altLang="ko-KR" dirty="0"/>
              <a:t>train</a:t>
            </a:r>
            <a:r>
              <a:rPr lang="ko-KR" altLang="en-US" dirty="0"/>
              <a:t>해서 </a:t>
            </a:r>
            <a:r>
              <a:rPr lang="en-US" altLang="ko-KR" dirty="0"/>
              <a:t>validation</a:t>
            </a:r>
            <a:r>
              <a:rPr lang="ko-KR" altLang="en-US" dirty="0"/>
              <a:t>한 결과이다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FN, FP</a:t>
            </a:r>
            <a:r>
              <a:rPr lang="ko-KR" altLang="en-US" dirty="0"/>
              <a:t>의 기하 평균이 높은 </a:t>
            </a:r>
            <a:r>
              <a:rPr lang="en-US" altLang="ko-KR" dirty="0"/>
              <a:t>label</a:t>
            </a:r>
            <a:r>
              <a:rPr lang="ko-KR" altLang="en-US" dirty="0"/>
              <a:t>이 </a:t>
            </a:r>
            <a:r>
              <a:rPr lang="en-US" altLang="ko-KR" dirty="0"/>
              <a:t>TP, F1Score</a:t>
            </a:r>
            <a:r>
              <a:rPr lang="ko-KR" altLang="en-US" dirty="0"/>
              <a:t>가 낮은 경향이</a:t>
            </a:r>
            <a:r>
              <a:rPr lang="en-US" altLang="ko-KR" dirty="0"/>
              <a:t> </a:t>
            </a:r>
            <a:r>
              <a:rPr lang="ko-KR" altLang="en-US" dirty="0"/>
              <a:t>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이중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FF0000"/>
                </a:solidFill>
              </a:rPr>
              <a:t>6</a:t>
            </a:r>
            <a:r>
              <a:rPr lang="ko-KR" altLang="en-US" dirty="0">
                <a:solidFill>
                  <a:srgbClr val="FF0000"/>
                </a:solidFill>
              </a:rPr>
              <a:t>번째 </a:t>
            </a:r>
            <a:r>
              <a:rPr lang="en-US" altLang="ko-KR" dirty="0">
                <a:solidFill>
                  <a:srgbClr val="FF0000"/>
                </a:solidFill>
              </a:rPr>
              <a:t>label</a:t>
            </a:r>
            <a:r>
              <a:rPr lang="ko-KR" altLang="en-US" dirty="0">
                <a:solidFill>
                  <a:srgbClr val="FF0000"/>
                </a:solidFill>
              </a:rPr>
              <a:t>까지를 기준</a:t>
            </a:r>
            <a:r>
              <a:rPr lang="ko-KR" altLang="en-US" dirty="0"/>
              <a:t>으로 하여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이들을 제거</a:t>
            </a:r>
            <a:r>
              <a:rPr lang="ko-KR" altLang="en-US" dirty="0"/>
              <a:t>하여 </a:t>
            </a:r>
            <a:r>
              <a:rPr lang="en-US" altLang="ko-KR" dirty="0"/>
              <a:t>network</a:t>
            </a:r>
            <a:r>
              <a:rPr lang="ko-KR" altLang="en-US" dirty="0"/>
              <a:t>을 </a:t>
            </a:r>
            <a:r>
              <a:rPr lang="en-US" altLang="ko-KR" dirty="0"/>
              <a:t>train</a:t>
            </a:r>
            <a:r>
              <a:rPr lang="ko-KR" altLang="en-US" dirty="0"/>
              <a:t> 한다</a:t>
            </a:r>
            <a:r>
              <a:rPr lang="en-US" altLang="ko-KR" dirty="0"/>
              <a:t>. (6 -&gt; 7</a:t>
            </a:r>
            <a:r>
              <a:rPr lang="ko-KR" altLang="en-US" dirty="0"/>
              <a:t>번째 </a:t>
            </a:r>
            <a:r>
              <a:rPr lang="en-US" altLang="ko-KR" dirty="0"/>
              <a:t>label</a:t>
            </a:r>
            <a:r>
              <a:rPr lang="ko-KR" altLang="en-US" dirty="0"/>
              <a:t>이 될 때</a:t>
            </a:r>
            <a:r>
              <a:rPr lang="en-US" altLang="ko-KR" dirty="0"/>
              <a:t>, </a:t>
            </a:r>
            <a:r>
              <a:rPr lang="ko-KR" altLang="en-US" dirty="0"/>
              <a:t>기하 평균이 많이 낮아져서 </a:t>
            </a:r>
            <a:r>
              <a:rPr lang="en-US" altLang="ko-KR" dirty="0"/>
              <a:t>6</a:t>
            </a:r>
            <a:r>
              <a:rPr lang="ko-KR" altLang="en-US" dirty="0" err="1"/>
              <a:t>번째를</a:t>
            </a:r>
            <a:r>
              <a:rPr lang="ko-KR" altLang="en-US" dirty="0"/>
              <a:t> 기준으로 했다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6645A4-E9F3-14D6-F522-9B93E108A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055" y="984192"/>
            <a:ext cx="2531891" cy="25873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95B555-47A0-66C5-C9C0-913C7B16E5D0}"/>
              </a:ext>
            </a:extLst>
          </p:cNvPr>
          <p:cNvSpPr txBox="1"/>
          <p:nvPr/>
        </p:nvSpPr>
        <p:spPr>
          <a:xfrm>
            <a:off x="2865374" y="1916029"/>
            <a:ext cx="1608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기하 평균이 높은 순으로 나열</a:t>
            </a:r>
            <a:endParaRPr lang="en-US" altLang="ko-KR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432A58-EBAC-05F0-ED63-C211EA95108E}"/>
              </a:ext>
            </a:extLst>
          </p:cNvPr>
          <p:cNvSpPr/>
          <p:nvPr/>
        </p:nvSpPr>
        <p:spPr>
          <a:xfrm flipV="1">
            <a:off x="4766856" y="2244348"/>
            <a:ext cx="3783106" cy="4571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위쪽 7">
            <a:extLst>
              <a:ext uri="{FF2B5EF4-FFF2-40B4-BE49-F238E27FC236}">
                <a16:creationId xmlns:a16="http://schemas.microsoft.com/office/drawing/2014/main" id="{7EF73434-FE7F-796E-960C-874C95954DE3}"/>
              </a:ext>
            </a:extLst>
          </p:cNvPr>
          <p:cNvSpPr/>
          <p:nvPr/>
        </p:nvSpPr>
        <p:spPr>
          <a:xfrm>
            <a:off x="7718614" y="1359336"/>
            <a:ext cx="411480" cy="88501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63A91-1E6C-660C-55C1-6F507AC963D2}"/>
              </a:ext>
            </a:extLst>
          </p:cNvPr>
          <p:cNvSpPr txBox="1"/>
          <p:nvPr/>
        </p:nvSpPr>
        <p:spPr>
          <a:xfrm>
            <a:off x="8421350" y="1682550"/>
            <a:ext cx="1810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훈련에 사용 </a:t>
            </a:r>
            <a:r>
              <a:rPr lang="en-US" altLang="ko-KR" sz="2000" b="1" dirty="0"/>
              <a:t>X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DB33C3-ACBF-E515-4155-2ABABDE9AC76}"/>
              </a:ext>
            </a:extLst>
          </p:cNvPr>
          <p:cNvSpPr/>
          <p:nvPr/>
        </p:nvSpPr>
        <p:spPr>
          <a:xfrm>
            <a:off x="6702080" y="1013900"/>
            <a:ext cx="613120" cy="2680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2020B-3F42-FC20-BE3F-9A6A12F9A326}"/>
              </a:ext>
            </a:extLst>
          </p:cNvPr>
          <p:cNvSpPr txBox="1"/>
          <p:nvPr/>
        </p:nvSpPr>
        <p:spPr>
          <a:xfrm>
            <a:off x="6113802" y="609510"/>
            <a:ext cx="18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기하 평균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58914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F958-FD89-401E-59CC-307A1958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09477-EE90-1C72-C1F8-003ED303D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5. state-of-the art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22D32B-ACC0-A244-B45B-2D1DC9641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4"/>
            <a:ext cx="10515600" cy="5681360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D5E2D7-7444-742A-7CAB-916C47639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378" y="190913"/>
            <a:ext cx="2531891" cy="25873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EEF6957-1088-66A2-AF0E-1CB67773F04B}"/>
              </a:ext>
            </a:extLst>
          </p:cNvPr>
          <p:cNvSpPr/>
          <p:nvPr/>
        </p:nvSpPr>
        <p:spPr>
          <a:xfrm flipV="1">
            <a:off x="8439979" y="1441543"/>
            <a:ext cx="3363238" cy="4571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위쪽 7">
            <a:extLst>
              <a:ext uri="{FF2B5EF4-FFF2-40B4-BE49-F238E27FC236}">
                <a16:creationId xmlns:a16="http://schemas.microsoft.com/office/drawing/2014/main" id="{39128A4A-1B03-0679-B596-0802426C1A40}"/>
              </a:ext>
            </a:extLst>
          </p:cNvPr>
          <p:cNvSpPr/>
          <p:nvPr/>
        </p:nvSpPr>
        <p:spPr>
          <a:xfrm>
            <a:off x="11391737" y="556532"/>
            <a:ext cx="411480" cy="88501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1DE9F25-90E8-1A4A-4779-AE810C126059}"/>
              </a:ext>
            </a:extLst>
          </p:cNvPr>
          <p:cNvSpPr txBox="1">
            <a:spLocks/>
          </p:cNvSpPr>
          <p:nvPr/>
        </p:nvSpPr>
        <p:spPr>
          <a:xfrm>
            <a:off x="990600" y="1203534"/>
            <a:ext cx="10515600" cy="5681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기하 평균이 높은 </a:t>
            </a:r>
            <a:r>
              <a:rPr lang="en-US" altLang="ko-KR" dirty="0"/>
              <a:t>label 6</a:t>
            </a:r>
            <a:r>
              <a:rPr lang="ko-KR" altLang="en-US" dirty="0"/>
              <a:t>개 제외</a:t>
            </a:r>
            <a:br>
              <a:rPr lang="en-US" altLang="ko-KR" dirty="0"/>
            </a:br>
            <a:r>
              <a:rPr lang="en-US" altLang="ko-KR" dirty="0"/>
              <a:t>(141, 138, 24, 120, 65, 160)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전체 </a:t>
            </a:r>
            <a:r>
              <a:rPr lang="en-US" altLang="ko-KR" dirty="0"/>
              <a:t>data </a:t>
            </a:r>
            <a:r>
              <a:rPr lang="ko-KR" altLang="en-US" dirty="0"/>
              <a:t>개수 </a:t>
            </a:r>
            <a:r>
              <a:rPr lang="en-US" altLang="ko-KR" dirty="0"/>
              <a:t>: (200-6)x500 = 97000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model</a:t>
            </a:r>
            <a:r>
              <a:rPr lang="ko-KR" altLang="en-US" dirty="0"/>
              <a:t>은 </a:t>
            </a:r>
            <a:r>
              <a:rPr lang="en-US" altLang="ko-KR" dirty="0"/>
              <a:t>resinet18</a:t>
            </a:r>
            <a:r>
              <a:rPr lang="ko-KR" altLang="en-US" dirty="0"/>
              <a:t>로 진행 </a:t>
            </a:r>
            <a:r>
              <a:rPr lang="en-US" altLang="ko-KR" dirty="0"/>
              <a:t>(</a:t>
            </a:r>
            <a:r>
              <a:rPr lang="ko-KR" altLang="en-US" dirty="0"/>
              <a:t>오른쪽 위에 기하 평균 표를 작성했던 상황과 동일한 </a:t>
            </a:r>
            <a:r>
              <a:rPr lang="en-US" altLang="ko-KR" dirty="0"/>
              <a:t>model</a:t>
            </a:r>
            <a:r>
              <a:rPr lang="ko-KR" altLang="en-US" dirty="0"/>
              <a:t>로 진행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기대하는 바 </a:t>
            </a:r>
            <a:r>
              <a:rPr lang="en-US" altLang="ko-KR" dirty="0"/>
              <a:t>: accuracy/</a:t>
            </a:r>
            <a:r>
              <a:rPr lang="en-US" altLang="ko-KR" dirty="0" err="1"/>
              <a:t>val</a:t>
            </a:r>
            <a:r>
              <a:rPr lang="ko-KR" altLang="en-US" dirty="0"/>
              <a:t>이 상승한다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추가 시나리오 </a:t>
            </a:r>
            <a:r>
              <a:rPr lang="en-US" altLang="ko-KR" dirty="0"/>
              <a:t>: </a:t>
            </a:r>
            <a:r>
              <a:rPr lang="ko-KR" altLang="en-US" dirty="0"/>
              <a:t>기하 평균이 </a:t>
            </a:r>
            <a:r>
              <a:rPr lang="ko-KR" altLang="en-US" dirty="0">
                <a:solidFill>
                  <a:srgbClr val="FF0000"/>
                </a:solidFill>
              </a:rPr>
              <a:t>가장 높은 </a:t>
            </a:r>
            <a:r>
              <a:rPr lang="en-US" altLang="ko-KR" dirty="0">
                <a:solidFill>
                  <a:srgbClr val="FF0000"/>
                </a:solidFill>
              </a:rPr>
              <a:t>label 1</a:t>
            </a:r>
            <a:r>
              <a:rPr lang="ko-KR" altLang="en-US" dirty="0">
                <a:solidFill>
                  <a:srgbClr val="FF0000"/>
                </a:solidFill>
              </a:rPr>
              <a:t>개만 </a:t>
            </a:r>
            <a:r>
              <a:rPr lang="ko-KR" altLang="en-US" dirty="0"/>
              <a:t>제외한 시나리오 진행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67F4C96-FBEF-925D-AB06-280D7EA8C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23" y="3351989"/>
            <a:ext cx="11307753" cy="238158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D35A9394-2C9C-86DF-FC57-E5DC65E261CB}"/>
              </a:ext>
            </a:extLst>
          </p:cNvPr>
          <p:cNvSpPr/>
          <p:nvPr/>
        </p:nvSpPr>
        <p:spPr>
          <a:xfrm rot="19411923">
            <a:off x="6332715" y="2837467"/>
            <a:ext cx="158238" cy="43337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975DA8-F548-7D83-D98F-7BF0776888F3}"/>
              </a:ext>
            </a:extLst>
          </p:cNvPr>
          <p:cNvSpPr txBox="1"/>
          <p:nvPr/>
        </p:nvSpPr>
        <p:spPr>
          <a:xfrm>
            <a:off x="6524295" y="727224"/>
            <a:ext cx="1810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훈련에 사용 </a:t>
            </a:r>
            <a:r>
              <a:rPr lang="en-US" altLang="ko-KR" sz="2000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088816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1860C-EF78-E9AA-FEE5-CDAABF6C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5. state-of-the art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5A4780-10FB-73D4-57B7-84EDA257A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4"/>
            <a:ext cx="10515600" cy="6655952"/>
          </a:xfrm>
        </p:spPr>
        <p:txBody>
          <a:bodyPr>
            <a:normAutofit/>
          </a:bodyPr>
          <a:lstStyle/>
          <a:p>
            <a:r>
              <a:rPr lang="ko-KR" altLang="en-US" dirty="0"/>
              <a:t>예시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train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network train</a:t>
            </a:r>
            <a:r>
              <a:rPr lang="ko-KR" altLang="en-US" dirty="0"/>
              <a:t>에 방해한다고 여기는</a:t>
            </a:r>
            <a:r>
              <a:rPr lang="en-US" altLang="ko-KR" dirty="0"/>
              <a:t>(</a:t>
            </a:r>
            <a:r>
              <a:rPr lang="ko-KR" altLang="en-US" dirty="0"/>
              <a:t>전 슬라이드에서 정의</a:t>
            </a:r>
            <a:r>
              <a:rPr lang="en-US" altLang="ko-KR" dirty="0"/>
              <a:t>) label</a:t>
            </a:r>
            <a:r>
              <a:rPr lang="ko-KR" altLang="en-US" dirty="0"/>
              <a:t>의 데이터는 </a:t>
            </a:r>
            <a:r>
              <a:rPr lang="en-US" altLang="ko-KR" dirty="0"/>
              <a:t>network train</a:t>
            </a:r>
            <a:r>
              <a:rPr lang="ko-KR" altLang="en-US" dirty="0"/>
              <a:t>에 사용하지 않는다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Test : </a:t>
            </a:r>
            <a:r>
              <a:rPr lang="ko-KR" altLang="en-US" dirty="0"/>
              <a:t>전체 </a:t>
            </a:r>
            <a:r>
              <a:rPr lang="en-US" altLang="ko-KR" dirty="0"/>
              <a:t>label</a:t>
            </a:r>
            <a:r>
              <a:rPr lang="ko-KR" altLang="en-US" dirty="0"/>
              <a:t>의 데이터를 검증한다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12C9B9-AEB1-66EC-3026-C65CACE266A8}"/>
              </a:ext>
            </a:extLst>
          </p:cNvPr>
          <p:cNvSpPr/>
          <p:nvPr/>
        </p:nvSpPr>
        <p:spPr>
          <a:xfrm>
            <a:off x="1078004" y="1794947"/>
            <a:ext cx="1291770" cy="2989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Training</a:t>
            </a:r>
          </a:p>
          <a:p>
            <a:pPr algn="ctr"/>
            <a:r>
              <a:rPr lang="en-US" altLang="ko-KR" dirty="0"/>
              <a:t>dataset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Label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</a:p>
          <a:p>
            <a:pPr algn="ctr"/>
            <a:r>
              <a:rPr lang="en-US" altLang="ko-KR" dirty="0"/>
              <a:t>Label 2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Label 199</a:t>
            </a:r>
          </a:p>
          <a:p>
            <a:pPr algn="ctr"/>
            <a:r>
              <a:rPr lang="en-US" altLang="ko-KR" dirty="0"/>
              <a:t>Label 200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E23EEA-7089-0552-A08F-CCDA534C5934}"/>
              </a:ext>
            </a:extLst>
          </p:cNvPr>
          <p:cNvSpPr/>
          <p:nvPr/>
        </p:nvSpPr>
        <p:spPr>
          <a:xfrm>
            <a:off x="6658429" y="1794947"/>
            <a:ext cx="1291770" cy="2989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Test </a:t>
            </a:r>
          </a:p>
          <a:p>
            <a:pPr algn="ctr"/>
            <a:r>
              <a:rPr lang="en-US" altLang="ko-KR" dirty="0"/>
              <a:t>dataset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Label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</a:p>
          <a:p>
            <a:pPr algn="ctr"/>
            <a:r>
              <a:rPr lang="en-US" altLang="ko-KR" dirty="0"/>
              <a:t>Label 2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Label 199</a:t>
            </a:r>
          </a:p>
          <a:p>
            <a:pPr algn="ctr"/>
            <a:r>
              <a:rPr lang="en-US" altLang="ko-KR" dirty="0"/>
              <a:t>Label 200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90F9E9-3144-B7E1-60BB-5C9A0254AB8A}"/>
              </a:ext>
            </a:extLst>
          </p:cNvPr>
          <p:cNvSpPr/>
          <p:nvPr/>
        </p:nvSpPr>
        <p:spPr>
          <a:xfrm>
            <a:off x="3202641" y="2520661"/>
            <a:ext cx="2162629" cy="153851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Network</a:t>
            </a:r>
          </a:p>
          <a:p>
            <a:pPr algn="ctr"/>
            <a:r>
              <a:rPr lang="en-US" altLang="ko-KR" dirty="0"/>
              <a:t>model 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77F80E-C93C-12CB-956B-50F820AC8D7C}"/>
              </a:ext>
            </a:extLst>
          </p:cNvPr>
          <p:cNvSpPr/>
          <p:nvPr/>
        </p:nvSpPr>
        <p:spPr>
          <a:xfrm>
            <a:off x="838200" y="1698161"/>
            <a:ext cx="4728882" cy="3183515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A6DF83D-89EC-926A-4FA5-2C91933287DD}"/>
              </a:ext>
            </a:extLst>
          </p:cNvPr>
          <p:cNvSpPr/>
          <p:nvPr/>
        </p:nvSpPr>
        <p:spPr>
          <a:xfrm>
            <a:off x="2548694" y="3152032"/>
            <a:ext cx="475026" cy="27577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99997-1EFC-2F8B-1D1B-1BF3B9F38BBD}"/>
              </a:ext>
            </a:extLst>
          </p:cNvPr>
          <p:cNvSpPr txBox="1"/>
          <p:nvPr/>
        </p:nvSpPr>
        <p:spPr>
          <a:xfrm>
            <a:off x="2538569" y="1794947"/>
            <a:ext cx="132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train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A01EF4-6A16-C10B-6029-08BF5B95B604}"/>
              </a:ext>
            </a:extLst>
          </p:cNvPr>
          <p:cNvSpPr/>
          <p:nvPr/>
        </p:nvSpPr>
        <p:spPr>
          <a:xfrm>
            <a:off x="8764390" y="2520661"/>
            <a:ext cx="2162629" cy="153851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Network</a:t>
            </a:r>
          </a:p>
          <a:p>
            <a:pPr algn="ctr"/>
            <a:r>
              <a:rPr lang="en-US" altLang="ko-KR" dirty="0"/>
              <a:t>model 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93E1E9-F90E-C53D-2D73-51D33AAF2171}"/>
              </a:ext>
            </a:extLst>
          </p:cNvPr>
          <p:cNvSpPr/>
          <p:nvPr/>
        </p:nvSpPr>
        <p:spPr>
          <a:xfrm>
            <a:off x="6399949" y="1698161"/>
            <a:ext cx="4728882" cy="3183515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682BB63-5D8C-A264-D2D9-EBB819E0B896}"/>
              </a:ext>
            </a:extLst>
          </p:cNvPr>
          <p:cNvSpPr/>
          <p:nvPr/>
        </p:nvSpPr>
        <p:spPr>
          <a:xfrm>
            <a:off x="8110443" y="3152032"/>
            <a:ext cx="475026" cy="27577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E8B0B9-A718-04D4-3AEA-FC64E4EE69CC}"/>
              </a:ext>
            </a:extLst>
          </p:cNvPr>
          <p:cNvSpPr txBox="1"/>
          <p:nvPr/>
        </p:nvSpPr>
        <p:spPr>
          <a:xfrm>
            <a:off x="8100318" y="1794947"/>
            <a:ext cx="132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test</a:t>
            </a:r>
          </a:p>
        </p:txBody>
      </p:sp>
      <p:pic>
        <p:nvPicPr>
          <p:cNvPr id="19" name="그래픽 18" descr="닫기 단색으로 채워진">
            <a:extLst>
              <a:ext uri="{FF2B5EF4-FFF2-40B4-BE49-F238E27FC236}">
                <a16:creationId xmlns:a16="http://schemas.microsoft.com/office/drawing/2014/main" id="{8FBDF36E-F944-5B6E-5E65-AA47B8D40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0360" y="3008085"/>
            <a:ext cx="947057" cy="457200"/>
          </a:xfrm>
          <a:prstGeom prst="rect">
            <a:avLst/>
          </a:prstGeom>
        </p:spPr>
      </p:pic>
      <p:pic>
        <p:nvPicPr>
          <p:cNvPr id="20" name="그래픽 19" descr="닫기 단색으로 채워진">
            <a:extLst>
              <a:ext uri="{FF2B5EF4-FFF2-40B4-BE49-F238E27FC236}">
                <a16:creationId xmlns:a16="http://schemas.microsoft.com/office/drawing/2014/main" id="{F241454E-038C-8F51-7E96-96A8FCF607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0359" y="3690819"/>
            <a:ext cx="947057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31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9B922-D3FC-58F4-4973-C743E5CF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5. state-of-the art </a:t>
            </a:r>
            <a:r>
              <a:rPr lang="ko-KR" altLang="en-US"/>
              <a:t>결과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75F556-C493-E108-006B-6CEFE5892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64198"/>
            <a:ext cx="10515600" cy="1443039"/>
          </a:xfrm>
        </p:spPr>
        <p:txBody>
          <a:bodyPr/>
          <a:lstStyle/>
          <a:p>
            <a:r>
              <a:rPr lang="en-US" altLang="ko-KR" dirty="0"/>
              <a:t>Train</a:t>
            </a:r>
            <a:r>
              <a:rPr lang="ko-KR" altLang="en-US" dirty="0"/>
              <a:t>할 때</a:t>
            </a:r>
            <a:r>
              <a:rPr lang="en-US" altLang="ko-KR" dirty="0"/>
              <a:t>, label</a:t>
            </a:r>
            <a:r>
              <a:rPr lang="ko-KR" altLang="en-US" dirty="0"/>
              <a:t>을 제거할 수록 </a:t>
            </a:r>
            <a:r>
              <a:rPr lang="en-US" altLang="ko-KR" dirty="0"/>
              <a:t>loss/</a:t>
            </a:r>
            <a:r>
              <a:rPr lang="en-US" altLang="ko-KR" dirty="0" err="1"/>
              <a:t>val</a:t>
            </a:r>
            <a:r>
              <a:rPr lang="ko-KR" altLang="en-US" dirty="0"/>
              <a:t>은 더 커지는 것을 확인할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Accuracy/</a:t>
            </a:r>
            <a:r>
              <a:rPr lang="en-US" altLang="ko-KR" dirty="0" err="1"/>
              <a:t>val</a:t>
            </a:r>
            <a:r>
              <a:rPr lang="ko-KR" altLang="en-US" dirty="0"/>
              <a:t>은 모두 비슷하게 나온 것을 확인할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FA651-A483-F360-15D4-D1400C519542}"/>
              </a:ext>
            </a:extLst>
          </p:cNvPr>
          <p:cNvSpPr txBox="1"/>
          <p:nvPr/>
        </p:nvSpPr>
        <p:spPr>
          <a:xfrm>
            <a:off x="9067458" y="3109349"/>
            <a:ext cx="289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5"/>
                </a:solidFill>
              </a:rPr>
              <a:t>보라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label 6</a:t>
            </a:r>
            <a:r>
              <a:rPr lang="ko-KR" altLang="en-US" sz="2000" b="1" dirty="0"/>
              <a:t>개 제외</a:t>
            </a:r>
            <a:r>
              <a:rPr lang="en-US" altLang="ko-KR" sz="2000" b="1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4502F-60EA-3E88-3380-73F48220BEF5}"/>
              </a:ext>
            </a:extLst>
          </p:cNvPr>
          <p:cNvSpPr txBox="1"/>
          <p:nvPr/>
        </p:nvSpPr>
        <p:spPr>
          <a:xfrm>
            <a:off x="9067458" y="2176846"/>
            <a:ext cx="2501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9933"/>
                </a:solidFill>
              </a:rPr>
              <a:t>주황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전체</a:t>
            </a:r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EF2E6-7E99-6824-FC45-C509EA74D32B}"/>
              </a:ext>
            </a:extLst>
          </p:cNvPr>
          <p:cNvSpPr txBox="1"/>
          <p:nvPr/>
        </p:nvSpPr>
        <p:spPr>
          <a:xfrm>
            <a:off x="8794378" y="1493693"/>
            <a:ext cx="3047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Train</a:t>
            </a:r>
            <a:r>
              <a:rPr lang="ko-KR" altLang="en-US" sz="2000" b="1" dirty="0"/>
              <a:t>에 사용한 </a:t>
            </a:r>
            <a:r>
              <a:rPr lang="en-US" altLang="ko-KR" sz="2000" b="1" dirty="0"/>
              <a:t>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1B86E7-7310-F974-52A1-B44E527D198E}"/>
              </a:ext>
            </a:extLst>
          </p:cNvPr>
          <p:cNvSpPr txBox="1"/>
          <p:nvPr/>
        </p:nvSpPr>
        <p:spPr>
          <a:xfrm>
            <a:off x="9067458" y="2643098"/>
            <a:ext cx="289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</a:rPr>
              <a:t>파랑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label 1</a:t>
            </a:r>
            <a:r>
              <a:rPr lang="ko-KR" altLang="en-US" sz="2000" b="1" dirty="0"/>
              <a:t>개 제외</a:t>
            </a:r>
            <a:r>
              <a:rPr lang="en-US" altLang="ko-KR" sz="2000" b="1" dirty="0"/>
              <a:t>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405F67-40E4-DA2D-6A42-EF2BEF08A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4" y="1077012"/>
            <a:ext cx="8167802" cy="3435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CD5AE77-D6E6-BFA4-8816-066E788428C7}"/>
              </a:ext>
            </a:extLst>
          </p:cNvPr>
          <p:cNvCxnSpPr>
            <a:cxnSpLocks/>
          </p:cNvCxnSpPr>
          <p:nvPr/>
        </p:nvCxnSpPr>
        <p:spPr>
          <a:xfrm flipH="1" flipV="1">
            <a:off x="8576783" y="3658605"/>
            <a:ext cx="403440" cy="12815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849F6BA-F728-9831-1C5F-AAF4C181C8C8}"/>
              </a:ext>
            </a:extLst>
          </p:cNvPr>
          <p:cNvCxnSpPr>
            <a:cxnSpLocks/>
          </p:cNvCxnSpPr>
          <p:nvPr/>
        </p:nvCxnSpPr>
        <p:spPr>
          <a:xfrm flipV="1">
            <a:off x="4226778" y="1562218"/>
            <a:ext cx="0" cy="3816606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95790FD6-2E2A-D000-71CE-DC62043CC5F3}"/>
              </a:ext>
            </a:extLst>
          </p:cNvPr>
          <p:cNvSpPr/>
          <p:nvPr/>
        </p:nvSpPr>
        <p:spPr>
          <a:xfrm rot="10800000">
            <a:off x="8359188" y="3212313"/>
            <a:ext cx="158238" cy="43337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487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8BF92-8EA7-AF1B-2A65-81E50FD8B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AF063-BA1F-D271-12C1-FBE8C7CE0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5. state-of-the art </a:t>
            </a:r>
            <a:r>
              <a:rPr lang="ko-KR" altLang="en-US" dirty="0"/>
              <a:t>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B9625F-E9C5-C613-0276-79D38FCE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14800"/>
            <a:ext cx="10515600" cy="2743200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분류에 있어 쓸모가 없는 데이터는 </a:t>
            </a:r>
            <a:r>
              <a:rPr lang="en-US" altLang="ko-KR" sz="2000" dirty="0"/>
              <a:t>Train</a:t>
            </a:r>
            <a:r>
              <a:rPr lang="ko-KR" altLang="en-US" sz="2000" dirty="0"/>
              <a:t>에 사용하지 않으면 더 좋을 것으로 예상했으나</a:t>
            </a:r>
            <a:r>
              <a:rPr lang="en-US" altLang="ko-KR" sz="2000" dirty="0"/>
              <a:t>, </a:t>
            </a:r>
            <a:r>
              <a:rPr lang="ko-KR" altLang="en-US" sz="2000" dirty="0"/>
              <a:t>그렇지 않았다</a:t>
            </a:r>
            <a:r>
              <a:rPr lang="en-US" altLang="ko-KR" sz="2000" dirty="0"/>
              <a:t>.</a:t>
            </a:r>
            <a:r>
              <a:rPr lang="ko-KR" altLang="en-US" sz="2000" dirty="0"/>
              <a:t>다른 </a:t>
            </a:r>
            <a:r>
              <a:rPr lang="en-US" altLang="ko-KR" sz="2000" dirty="0"/>
              <a:t>label</a:t>
            </a:r>
            <a:r>
              <a:rPr lang="ko-KR" altLang="en-US" sz="2000" dirty="0"/>
              <a:t>들도 사실 정확히 분류하지 못해서 그런 결과로 보인다</a:t>
            </a:r>
            <a:r>
              <a:rPr lang="en-US" altLang="ko-KR" sz="2000" dirty="0"/>
              <a:t>. </a:t>
            </a:r>
            <a:r>
              <a:rPr lang="ko-KR" altLang="en-US" sz="2000" dirty="0"/>
              <a:t>만약</a:t>
            </a:r>
            <a:r>
              <a:rPr lang="en-US" altLang="ko-KR" sz="2000" dirty="0"/>
              <a:t>, </a:t>
            </a:r>
            <a:r>
              <a:rPr lang="ko-KR" altLang="en-US" sz="2000" dirty="0"/>
              <a:t>다른 </a:t>
            </a:r>
            <a:r>
              <a:rPr lang="en-US" altLang="ko-KR" sz="2000" dirty="0"/>
              <a:t>label</a:t>
            </a:r>
            <a:r>
              <a:rPr lang="ko-KR" altLang="en-US" sz="2000" dirty="0"/>
              <a:t>들의 정확성이 </a:t>
            </a:r>
            <a:r>
              <a:rPr lang="en-US" altLang="ko-KR" sz="2000" dirty="0"/>
              <a:t>90%</a:t>
            </a:r>
            <a:r>
              <a:rPr lang="ko-KR" altLang="en-US" sz="2000" dirty="0"/>
              <a:t>가 넘고</a:t>
            </a:r>
            <a:r>
              <a:rPr lang="en-US" altLang="ko-KR" sz="2000" dirty="0"/>
              <a:t>, </a:t>
            </a:r>
            <a:r>
              <a:rPr lang="ko-KR" altLang="en-US" sz="2000" dirty="0"/>
              <a:t>특정 </a:t>
            </a:r>
            <a:r>
              <a:rPr lang="en-US" altLang="ko-KR" sz="2000" dirty="0"/>
              <a:t>label</a:t>
            </a:r>
            <a:r>
              <a:rPr lang="ko-KR" altLang="en-US" sz="2000" dirty="0"/>
              <a:t>들은 정확성이 </a:t>
            </a:r>
            <a:r>
              <a:rPr lang="en-US" altLang="ko-KR" sz="2000" dirty="0"/>
              <a:t>10%</a:t>
            </a:r>
            <a:r>
              <a:rPr lang="ko-KR" altLang="en-US" sz="2000" dirty="0"/>
              <a:t>보다 작다면</a:t>
            </a:r>
            <a:r>
              <a:rPr lang="en-US" altLang="ko-KR" sz="2000" dirty="0"/>
              <a:t>, </a:t>
            </a:r>
            <a:r>
              <a:rPr lang="ko-KR" altLang="en-US" sz="2000" dirty="0"/>
              <a:t>이 때는</a:t>
            </a:r>
            <a:r>
              <a:rPr lang="en-US" altLang="ko-KR" sz="2000" dirty="0"/>
              <a:t>, </a:t>
            </a:r>
            <a:r>
              <a:rPr lang="ko-KR" altLang="en-US" sz="2000" dirty="0"/>
              <a:t>내가 제시한 방법이 잘 적용되리라 생각된다</a:t>
            </a:r>
            <a:r>
              <a:rPr lang="en-US" altLang="ko-KR" sz="2000" dirty="0"/>
              <a:t>. </a:t>
            </a:r>
          </a:p>
          <a:p>
            <a:r>
              <a:rPr lang="en-US" altLang="ko-KR" sz="2000" dirty="0"/>
              <a:t>Label</a:t>
            </a:r>
            <a:r>
              <a:rPr lang="ko-KR" altLang="en-US" sz="2000" dirty="0"/>
              <a:t>을 제거했을 때</a:t>
            </a:r>
            <a:r>
              <a:rPr lang="en-US" altLang="ko-KR" sz="2000" dirty="0"/>
              <a:t>, </a:t>
            </a:r>
            <a:r>
              <a:rPr lang="ko-KR" altLang="en-US" sz="2000" dirty="0"/>
              <a:t>꽤 </a:t>
            </a:r>
            <a:r>
              <a:rPr lang="en-US" altLang="ko-KR" sz="2000" dirty="0">
                <a:solidFill>
                  <a:srgbClr val="FF0000"/>
                </a:solidFill>
              </a:rPr>
              <a:t>loss/</a:t>
            </a:r>
            <a:r>
              <a:rPr lang="en-US" altLang="ko-KR" sz="2000" dirty="0" err="1">
                <a:solidFill>
                  <a:srgbClr val="FF0000"/>
                </a:solidFill>
              </a:rPr>
              <a:t>val</a:t>
            </a:r>
            <a:r>
              <a:rPr lang="ko-KR" altLang="en-US" sz="2000" dirty="0">
                <a:solidFill>
                  <a:srgbClr val="FF0000"/>
                </a:solidFill>
              </a:rPr>
              <a:t>이 증가</a:t>
            </a:r>
            <a:r>
              <a:rPr lang="ko-KR" altLang="en-US" sz="2000" dirty="0"/>
              <a:t>했음에도 불구하고 </a:t>
            </a:r>
            <a:r>
              <a:rPr lang="en-US" altLang="ko-KR" sz="2000" dirty="0">
                <a:solidFill>
                  <a:srgbClr val="FF0000"/>
                </a:solidFill>
              </a:rPr>
              <a:t>accuracy/</a:t>
            </a:r>
            <a:r>
              <a:rPr lang="en-US" altLang="ko-KR" sz="2000" dirty="0" err="1">
                <a:solidFill>
                  <a:srgbClr val="FF0000"/>
                </a:solidFill>
              </a:rPr>
              <a:t>val</a:t>
            </a:r>
            <a:r>
              <a:rPr lang="ko-KR" altLang="en-US" sz="2000" dirty="0">
                <a:solidFill>
                  <a:srgbClr val="FF0000"/>
                </a:solidFill>
              </a:rPr>
              <a:t>은 줄지 않고 </a:t>
            </a:r>
            <a:r>
              <a:rPr lang="ko-KR" altLang="en-US" sz="2000" dirty="0"/>
              <a:t>거의 비슷했다</a:t>
            </a:r>
            <a:r>
              <a:rPr lang="en-US" altLang="ko-KR" sz="2000" dirty="0"/>
              <a:t>. </a:t>
            </a: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CrossEntropy</a:t>
            </a:r>
            <a:r>
              <a:rPr lang="ko-KR" altLang="en-US" sz="2000" dirty="0"/>
              <a:t>라는 </a:t>
            </a:r>
            <a:r>
              <a:rPr lang="en-US" altLang="ko-KR" sz="2000" dirty="0"/>
              <a:t>loss function</a:t>
            </a:r>
            <a:r>
              <a:rPr lang="ko-KR" altLang="en-US" sz="2000" dirty="0"/>
              <a:t>보다 더 좋은 </a:t>
            </a:r>
            <a:r>
              <a:rPr lang="en-US" altLang="ko-KR" sz="2000" dirty="0"/>
              <a:t>loss function</a:t>
            </a:r>
            <a:r>
              <a:rPr lang="ko-KR" altLang="en-US" sz="2000" dirty="0"/>
              <a:t> 존재할 것이라고 생각한다</a:t>
            </a:r>
            <a:r>
              <a:rPr lang="en-US" altLang="ko-KR" sz="2000" dirty="0"/>
              <a:t>. </a:t>
            </a:r>
            <a:r>
              <a:rPr lang="ko-KR" altLang="en-US" sz="2000" dirty="0"/>
              <a:t>왜냐하면 정확성을 판단할 때는 결국 </a:t>
            </a:r>
            <a:r>
              <a:rPr lang="en-US" altLang="ko-KR" sz="2000" dirty="0"/>
              <a:t>argmax</a:t>
            </a:r>
            <a:r>
              <a:rPr lang="ko-KR" altLang="en-US" sz="2000" dirty="0"/>
              <a:t>를 활용하여 가장 큰 값만 </a:t>
            </a:r>
            <a:r>
              <a:rPr lang="en-US" altLang="ko-KR" sz="2000" dirty="0"/>
              <a:t>1</a:t>
            </a:r>
            <a:r>
              <a:rPr lang="ko-KR" altLang="en-US" sz="2000" dirty="0"/>
              <a:t>로 취급하고</a:t>
            </a:r>
            <a:r>
              <a:rPr lang="en-US" altLang="ko-KR" sz="2000" dirty="0"/>
              <a:t>, </a:t>
            </a:r>
            <a:r>
              <a:rPr lang="ko-KR" altLang="en-US" sz="2000" dirty="0"/>
              <a:t>나머지는 다 </a:t>
            </a:r>
            <a:r>
              <a:rPr lang="en-US" altLang="ko-KR" sz="2000" dirty="0"/>
              <a:t>0</a:t>
            </a:r>
            <a:r>
              <a:rPr lang="ko-KR" altLang="en-US" sz="2000" dirty="0"/>
              <a:t>으로 버리기 때문에 </a:t>
            </a:r>
            <a:r>
              <a:rPr lang="en-US" altLang="ko-KR" sz="2000" dirty="0"/>
              <a:t>loss function</a:t>
            </a:r>
            <a:r>
              <a:rPr lang="ko-KR" altLang="en-US" sz="2000" dirty="0"/>
              <a:t>과 약간 차이가 발생하게 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F959DD6-DE08-A826-8D59-7631CDAB8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436" y="972852"/>
            <a:ext cx="6571129" cy="2763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529FADE-E0BC-25AF-0B3C-954BB1C6A2E6}"/>
              </a:ext>
            </a:extLst>
          </p:cNvPr>
          <p:cNvCxnSpPr>
            <a:cxnSpLocks/>
          </p:cNvCxnSpPr>
          <p:nvPr/>
        </p:nvCxnSpPr>
        <p:spPr>
          <a:xfrm flipV="1">
            <a:off x="5647765" y="2814918"/>
            <a:ext cx="3433482" cy="2528047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0F37147-A195-DCFC-960C-F8BF236EA7D7}"/>
              </a:ext>
            </a:extLst>
          </p:cNvPr>
          <p:cNvCxnSpPr>
            <a:cxnSpLocks/>
          </p:cNvCxnSpPr>
          <p:nvPr/>
        </p:nvCxnSpPr>
        <p:spPr>
          <a:xfrm flipH="1" flipV="1">
            <a:off x="5764306" y="1389529"/>
            <a:ext cx="4177553" cy="3953436"/>
          </a:xfrm>
          <a:prstGeom prst="straightConnector1">
            <a:avLst/>
          </a:prstGeom>
          <a:ln w="381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631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2461</TotalTime>
  <Words>2210</Words>
  <Application>Microsoft Office PowerPoint</Application>
  <PresentationFormat>와이드스크린</PresentationFormat>
  <Paragraphs>342</Paragraphs>
  <Slides>29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맑은 고딕</vt:lpstr>
      <vt:lpstr>Arial</vt:lpstr>
      <vt:lpstr>Office 테마</vt:lpstr>
      <vt:lpstr>딥러닝 (AUE 8088) PA1</vt:lpstr>
      <vt:lpstr>목차</vt:lpstr>
      <vt:lpstr>0. 환경설정</vt:lpstr>
      <vt:lpstr>1-1. MyAccuracy class </vt:lpstr>
      <vt:lpstr>1-1. MyAccuracy class 구현 </vt:lpstr>
      <vt:lpstr>1-1. MyAccuracy class 구현 </vt:lpstr>
      <vt:lpstr>1-1. MyAccuracy class 확인 (test.py 실행)</vt:lpstr>
      <vt:lpstr>1-2. MyF1Score 구현</vt:lpstr>
      <vt:lpstr>1-2. MyF1Score 구현</vt:lpstr>
      <vt:lpstr>1-2. MyF1Score 확인 (test.py 실행)</vt:lpstr>
      <vt:lpstr>2. Train models</vt:lpstr>
      <vt:lpstr>2. Train models 결과 </vt:lpstr>
      <vt:lpstr>2. Train models 결과 분석 1 (batch size 감소)</vt:lpstr>
      <vt:lpstr>2. Train models 결과 분석 2 (momentum 제거)</vt:lpstr>
      <vt:lpstr>2. Train models 결과 분석 3 (accuracy) </vt:lpstr>
      <vt:lpstr>3. Modify AlexNet </vt:lpstr>
      <vt:lpstr>3. Modify AlexNet  </vt:lpstr>
      <vt:lpstr>3. Modify AlexNet 구현 </vt:lpstr>
      <vt:lpstr>3. Modify AlexNet 결과</vt:lpstr>
      <vt:lpstr>4. size-accuracy trade-off plot </vt:lpstr>
      <vt:lpstr>4. size-accuracy trade-off plot 결과 1</vt:lpstr>
      <vt:lpstr>4. size-accuracy trade-off plot 결과 2</vt:lpstr>
      <vt:lpstr>4. size-accuracy trade-off plot 결과 2</vt:lpstr>
      <vt:lpstr>5. state-of-the art</vt:lpstr>
      <vt:lpstr>5. state-of-the art 구현</vt:lpstr>
      <vt:lpstr>5. state-of-the art 구현</vt:lpstr>
      <vt:lpstr>5. state-of-the art 구현</vt:lpstr>
      <vt:lpstr>5. state-of-the art 결과</vt:lpstr>
      <vt:lpstr>5. state-of-the art 분석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병유 이</dc:creator>
  <cp:lastModifiedBy>병유 이</cp:lastModifiedBy>
  <cp:revision>16</cp:revision>
  <dcterms:created xsi:type="dcterms:W3CDTF">2025-04-28T09:55:33Z</dcterms:created>
  <dcterms:modified xsi:type="dcterms:W3CDTF">2025-05-02T06:51:45Z</dcterms:modified>
</cp:coreProperties>
</file>